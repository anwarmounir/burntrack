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onsolas" charset="1" panose="020B0609020204030204"/>
      <p:regular r:id="rId19"/>
    </p:embeddedFont>
    <p:embeddedFont>
      <p:font typeface="Consolas Bold" charset="1" panose="020B0709020204030204"/>
      <p:regular r:id="rId20"/>
    </p:embeddedFont>
    <p:embeddedFont>
      <p:font typeface="Georgia Bold" charset="1" panose="02040802050405020203"/>
      <p:regular r:id="rId21"/>
    </p:embeddedFont>
    <p:embeddedFont>
      <p:font typeface="Georgia Italics" charset="1" panose="02040502050405090303"/>
      <p:regular r:id="rId22"/>
    </p:embeddedFont>
    <p:embeddedFont>
      <p:font typeface="Calibri (MS)" charset="1" panose="020F0502020204030204"/>
      <p:regular r:id="rId23"/>
    </p:embeddedFont>
    <p:embeddedFont>
      <p:font typeface="Calibri (MS) Bold" charset="1" panose="020F0702030404030204"/>
      <p:regular r:id="rId24"/>
    </p:embeddedFont>
    <p:embeddedFont>
      <p:font typeface="Consolas Italics" charset="1" panose="020B06090202040A0204"/>
      <p:regular r:id="rId25"/>
    </p:embeddedFont>
    <p:embeddedFont>
      <p:font typeface="Calibri (MS) Italics" charset="1" panose="020F05020202040A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686333"/>
            <a:chOff x="0" y="0"/>
            <a:chExt cx="24402453" cy="915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915162"/>
            </a:xfrm>
            <a:custGeom>
              <a:avLst/>
              <a:gdLst/>
              <a:ahLst/>
              <a:cxnLst/>
              <a:rect r="r" b="b" t="t" l="l"/>
              <a:pathLst>
                <a:path h="9151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32053" y="149876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600">
                <a:solidFill>
                  <a:srgbClr val="F7F3EC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149876"/>
            <a:ext cx="4850178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450">
                <a:solidFill>
                  <a:srgbClr val="F7F3EC"/>
                </a:solidFill>
                <a:latin typeface="Consolas"/>
                <a:ea typeface="Consolas"/>
                <a:cs typeface="Consolas"/>
                <a:sym typeface="Consolas"/>
              </a:rPr>
              <a:t>ÉCOLE CENTRALE CASABLANCA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9328" y="1344101"/>
            <a:ext cx="9517266" cy="57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PROGRAMME LEARNING BY DOING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9328" y="1893170"/>
            <a:ext cx="9517266" cy="57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spc="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SOUTENANCE D'AVANCEMENT — 29 AVRIL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9328" y="2752916"/>
            <a:ext cx="10889942" cy="170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8"/>
              </a:lnSpc>
            </a:pPr>
            <a:r>
              <a:rPr lang="en-US" sz="14411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Burn-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9328" y="4262847"/>
            <a:ext cx="10889942" cy="170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8"/>
              </a:lnSpc>
            </a:pPr>
            <a:r>
              <a:rPr lang="en-US" sz="14411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Track.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9328" y="6020705"/>
            <a:ext cx="12262609" cy="70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i="true">
                <a:solidFill>
                  <a:srgbClr val="333333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Comment l'IA et la robotique mobile peuvent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9328" y="6432509"/>
            <a:ext cx="12262609" cy="70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i="true">
                <a:solidFill>
                  <a:srgbClr val="333333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redonner un temps d'avance face aux méga-feux.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3608" y="7275166"/>
            <a:ext cx="960872" cy="54912"/>
            <a:chOff x="0" y="0"/>
            <a:chExt cx="1281163" cy="73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1176" cy="73152"/>
            </a:xfrm>
            <a:custGeom>
              <a:avLst/>
              <a:gdLst/>
              <a:ahLst/>
              <a:cxnLst/>
              <a:rect r="r" b="b" t="t" l="l"/>
              <a:pathLst>
                <a:path h="73152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69328" y="7452493"/>
            <a:ext cx="5399246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6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PAR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9328" y="7795660"/>
            <a:ext cx="6771923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Anwar Mounir, Meryem Azgrar, Amina Dione,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9328" y="8097650"/>
            <a:ext cx="6771923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Chady Latifi &amp; Ivan-Emmanuel Rabe Maleu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95416" y="7452493"/>
            <a:ext cx="5399246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6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ENCADRÉ PAR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95416" y="7795660"/>
            <a:ext cx="6771923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414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M. Anouar BELHBOUB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54049" y="2059010"/>
            <a:ext cx="5257333" cy="6451559"/>
            <a:chOff x="0" y="0"/>
            <a:chExt cx="7009778" cy="86020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09765" cy="8602091"/>
            </a:xfrm>
            <a:custGeom>
              <a:avLst/>
              <a:gdLst/>
              <a:ahLst/>
              <a:cxnLst/>
              <a:rect r="r" b="b" t="t" l="l"/>
              <a:pathLst>
                <a:path h="8602091" w="7009765">
                  <a:moveTo>
                    <a:pt x="0" y="0"/>
                  </a:moveTo>
                  <a:lnTo>
                    <a:pt x="7009765" y="0"/>
                  </a:lnTo>
                  <a:lnTo>
                    <a:pt x="7009765" y="8602091"/>
                  </a:lnTo>
                  <a:lnTo>
                    <a:pt x="0" y="8602091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811573" y="2442239"/>
            <a:ext cx="4342295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b="true" sz="135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DANS CE NUMÉRO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11573" y="3216259"/>
            <a:ext cx="869432" cy="55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03808" y="3256312"/>
            <a:ext cx="3518687" cy="5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7F3EC"/>
                </a:solidFill>
                <a:latin typeface="Calibri (MS)"/>
                <a:ea typeface="Calibri (MS)"/>
                <a:cs typeface="Calibri (MS)"/>
                <a:sym typeface="Calibri (MS)"/>
              </a:rPr>
              <a:t>Le "Golden Time"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11573" y="3971230"/>
            <a:ext cx="869432" cy="55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03808" y="4011282"/>
            <a:ext cx="3518687" cy="5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7F3EC"/>
                </a:solidFill>
                <a:latin typeface="Calibri (MS)"/>
                <a:ea typeface="Calibri (MS)"/>
                <a:cs typeface="Calibri (MS)"/>
                <a:sym typeface="Calibri (MS)"/>
              </a:rPr>
              <a:t>Architecture cyber-physique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11573" y="4726191"/>
            <a:ext cx="869432" cy="55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03808" y="4766253"/>
            <a:ext cx="3518687" cy="5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7F3EC"/>
                </a:solidFill>
                <a:latin typeface="Calibri (MS)"/>
                <a:ea typeface="Calibri (MS)"/>
                <a:cs typeface="Calibri (MS)"/>
                <a:sym typeface="Calibri (MS)"/>
              </a:rPr>
              <a:t>Tests réels sur le banc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11573" y="5481161"/>
            <a:ext cx="869432" cy="55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03808" y="5521223"/>
            <a:ext cx="3518687" cy="5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7F3EC"/>
                </a:solidFill>
                <a:latin typeface="Calibri (MS)"/>
                <a:ea typeface="Calibri (MS)"/>
                <a:cs typeface="Calibri (MS)"/>
                <a:sym typeface="Calibri (MS)"/>
              </a:rPr>
              <a:t>Cartographie 2D dynamique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11573" y="6236132"/>
            <a:ext cx="869432" cy="55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03808" y="6276194"/>
            <a:ext cx="3518687" cy="5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7F3EC"/>
                </a:solidFill>
                <a:latin typeface="Calibri (MS)"/>
                <a:ea typeface="Calibri (MS)"/>
                <a:cs typeface="Calibri (MS)"/>
                <a:sym typeface="Calibri (MS)"/>
              </a:rPr>
              <a:t>Pipeline ML triplé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11573" y="6991102"/>
            <a:ext cx="869432" cy="55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03808" y="7031164"/>
            <a:ext cx="3518687" cy="5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7F3EC"/>
                </a:solidFill>
                <a:latin typeface="Calibri (MS)"/>
                <a:ea typeface="Calibri (MS)"/>
                <a:cs typeface="Calibri (MS)"/>
                <a:sym typeface="Calibri (MS)"/>
              </a:rPr>
              <a:t>Roadmap juin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0" y="9402804"/>
            <a:ext cx="18301840" cy="892235"/>
            <a:chOff x="0" y="0"/>
            <a:chExt cx="24402453" cy="11896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402414" cy="1189609"/>
            </a:xfrm>
            <a:custGeom>
              <a:avLst/>
              <a:gdLst/>
              <a:ahLst/>
              <a:cxnLst/>
              <a:rect r="r" b="b" t="t" l="l"/>
              <a:pathLst>
                <a:path h="118960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732053" y="9677343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F7F3EC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909083" y="9680419"/>
            <a:ext cx="5399246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spc="45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GROUPE 7 · BLD-S6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99769" y="9680419"/>
            <a:ext cx="516589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spc="45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ANNÉE 2025–2026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053" y="383229"/>
            <a:ext cx="5399246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053" y="754971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86112" y="383229"/>
            <a:ext cx="4850178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450">
                <a:solidFill>
                  <a:srgbClr val="D44A1A"/>
                </a:solidFill>
                <a:latin typeface="Consolas"/>
                <a:ea typeface="Consolas"/>
                <a:cs typeface="Consolas"/>
                <a:sym typeface="Consolas"/>
              </a:rPr>
              <a:t>ÉDITORIAL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754971"/>
            <a:ext cx="4850178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b="true" sz="1651" spc="45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P. 02 / 14</a:t>
            </a:r>
          </a:p>
        </p:txBody>
      </p:sp>
      <p:sp>
        <p:nvSpPr>
          <p:cNvPr name="AutoShape 8" id="8"/>
          <p:cNvSpPr/>
          <p:nvPr/>
        </p:nvSpPr>
        <p:spPr>
          <a:xfrm rot="1920">
            <a:off x="681571" y="1299277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32053" y="1637681"/>
            <a:ext cx="1830305" cy="117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7"/>
              </a:lnSpc>
            </a:pPr>
            <a:r>
              <a:rPr lang="en-US" sz="7806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259" y="1883645"/>
            <a:ext cx="539924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9259" y="2324014"/>
            <a:ext cx="15007952" cy="138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Là où nous en sommes 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79259" y="3284887"/>
            <a:ext cx="15007952" cy="138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et là où nous allons.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79259" y="4895955"/>
            <a:ext cx="15007952" cy="1075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2251" i="true">
                <a:solidFill>
                  <a:srgbClr val="333333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Trois mois après la validation de notre solution par le jury, le projet est entré dans sa phase de prototypage actif. Cette présentation fait le point.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6333" y="6726098"/>
            <a:ext cx="54912" cy="2333539"/>
            <a:chOff x="0" y="0"/>
            <a:chExt cx="73216" cy="31113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3111373"/>
            </a:xfrm>
            <a:custGeom>
              <a:avLst/>
              <a:gdLst/>
              <a:ahLst/>
              <a:cxnLst/>
              <a:rect r="r" b="b" t="t" l="l"/>
              <a:pathLst>
                <a:path h="3111373" w="73152">
                  <a:moveTo>
                    <a:pt x="0" y="0"/>
                  </a:moveTo>
                  <a:lnTo>
                    <a:pt x="73152" y="0"/>
                  </a:lnTo>
                  <a:lnTo>
                    <a:pt x="73152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06592" y="6687998"/>
            <a:ext cx="5124717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LE LOGICIEL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6592" y="7092229"/>
            <a:ext cx="5124717" cy="203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Plateforme web fonctionnelle sur données réelles. Moteur Rothermel calibré, indices VPD/DFMC validés, score de risque opérationnel.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82931" y="6726098"/>
            <a:ext cx="54912" cy="2333539"/>
            <a:chOff x="0" y="0"/>
            <a:chExt cx="73216" cy="31113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" cy="3111373"/>
            </a:xfrm>
            <a:custGeom>
              <a:avLst/>
              <a:gdLst/>
              <a:ahLst/>
              <a:cxnLst/>
              <a:rect r="r" b="b" t="t" l="l"/>
              <a:pathLst>
                <a:path h="3111373" w="73152">
                  <a:moveTo>
                    <a:pt x="0" y="0"/>
                  </a:moveTo>
                  <a:lnTo>
                    <a:pt x="73152" y="0"/>
                  </a:lnTo>
                  <a:lnTo>
                    <a:pt x="73152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703181" y="6687998"/>
            <a:ext cx="5124717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LE MATÉRIEL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03181" y="7092229"/>
            <a:ext cx="5124717" cy="203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Capteurs testés. Données mappées pour modèles IA. Conception 3D terminée, pièces imprimées. En attente des moteurs G25-370 pour assemblage.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79519" y="6726098"/>
            <a:ext cx="54912" cy="2333539"/>
            <a:chOff x="0" y="0"/>
            <a:chExt cx="73216" cy="31113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" cy="3111373"/>
            </a:xfrm>
            <a:custGeom>
              <a:avLst/>
              <a:gdLst/>
              <a:ahLst/>
              <a:cxnLst/>
              <a:rect r="r" b="b" t="t" l="l"/>
              <a:pathLst>
                <a:path h="3111373" w="73152">
                  <a:moveTo>
                    <a:pt x="0" y="0"/>
                  </a:moveTo>
                  <a:lnTo>
                    <a:pt x="73152" y="0"/>
                  </a:lnTo>
                  <a:lnTo>
                    <a:pt x="73152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399769" y="6687998"/>
            <a:ext cx="5124717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LE MACHINE LEARNING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99769" y="7092229"/>
            <a:ext cx="5124717" cy="203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 de données prête (réelles et synthétiques). Reste à concevoir, entraîner et vérifier les modèles IA pour exploiter ces données.</a:t>
            </a:r>
          </a:p>
        </p:txBody>
      </p:sp>
      <p:sp>
        <p:nvSpPr>
          <p:cNvPr name="AutoShape 26" id="26"/>
          <p:cNvSpPr/>
          <p:nvPr/>
        </p:nvSpPr>
        <p:spPr>
          <a:xfrm rot="1920">
            <a:off x="681571" y="9672580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732053" y="9758582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ÉCOLE CENTRALE CASABLANCA — LEARNING BY DOING — GROUPE 7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40759" y="9758582"/>
            <a:ext cx="7224903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b="true" sz="1200" spc="300">
                <a:solidFill>
                  <a:srgbClr val="141414"/>
                </a:solidFill>
                <a:latin typeface="Consolas Bold"/>
                <a:ea typeface="Consolas Bold"/>
                <a:cs typeface="Consolas Bold"/>
                <a:sym typeface="Consolas Bold"/>
              </a:rPr>
              <a:t>P.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053" y="383229"/>
            <a:ext cx="5399246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053" y="754971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86112" y="383229"/>
            <a:ext cx="4850178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450">
                <a:solidFill>
                  <a:srgbClr val="D44A1A"/>
                </a:solidFill>
                <a:latin typeface="Consolas"/>
                <a:ea typeface="Consolas"/>
                <a:cs typeface="Consolas"/>
                <a:sym typeface="Consolas"/>
              </a:rPr>
              <a:t>CONTEXTE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754971"/>
            <a:ext cx="4850178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b="true" sz="1651" spc="45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P. 03 / 14</a:t>
            </a:r>
          </a:p>
        </p:txBody>
      </p:sp>
      <p:sp>
        <p:nvSpPr>
          <p:cNvPr name="AutoShape 8" id="8"/>
          <p:cNvSpPr/>
          <p:nvPr/>
        </p:nvSpPr>
        <p:spPr>
          <a:xfrm rot="1920">
            <a:off x="681571" y="1299277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32053" y="1637681"/>
            <a:ext cx="1830305" cy="117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7"/>
              </a:lnSpc>
            </a:pPr>
            <a:r>
              <a:rPr lang="en-US" sz="7806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259" y="1883645"/>
            <a:ext cx="539924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LE PROBLÈME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9259" y="2324014"/>
            <a:ext cx="15007952" cy="206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L'urgence de la donnée fraîche.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2053" y="4562313"/>
            <a:ext cx="16792432" cy="92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0"/>
              </a:lnSpc>
            </a:pPr>
            <a:r>
              <a:rPr lang="en-US" sz="2101" i="true">
                <a:solidFill>
                  <a:srgbClr val="333333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Pourquoi les méthodes actuelles laissent passer le moment décisif où le feu est encore gérable.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6333" y="6177029"/>
            <a:ext cx="960872" cy="54912"/>
            <a:chOff x="0" y="0"/>
            <a:chExt cx="1281163" cy="73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1176" cy="73152"/>
            </a:xfrm>
            <a:custGeom>
              <a:avLst/>
              <a:gdLst/>
              <a:ahLst/>
              <a:cxnLst/>
              <a:rect r="r" b="b" t="t" l="l"/>
              <a:pathLst>
                <a:path h="73152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32053" y="6382931"/>
            <a:ext cx="5536511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7"/>
              </a:lnSpc>
            </a:pPr>
            <a:r>
              <a:rPr lang="en-US" sz="8406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50 %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2053" y="7589758"/>
            <a:ext cx="5536511" cy="57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44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la surface brûlée mondiale annuellement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2053" y="7984465"/>
            <a:ext cx="5261981" cy="93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5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se trouve sur le continent africain — données GWIS 2024.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82922" y="6177029"/>
            <a:ext cx="960872" cy="54912"/>
            <a:chOff x="0" y="0"/>
            <a:chExt cx="1281163" cy="73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1176" cy="73152"/>
            </a:xfrm>
            <a:custGeom>
              <a:avLst/>
              <a:gdLst/>
              <a:ahLst/>
              <a:cxnLst/>
              <a:rect r="r" b="b" t="t" l="l"/>
              <a:pathLst>
                <a:path h="73152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428642" y="6382931"/>
            <a:ext cx="5536511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7"/>
              </a:lnSpc>
            </a:pPr>
            <a:r>
              <a:rPr lang="en-US" sz="8406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30 min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28642" y="7589758"/>
            <a:ext cx="5536511" cy="57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44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fenêtre critique après l'ignition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28642" y="7984465"/>
            <a:ext cx="5261981" cy="93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5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le « Golden Time » durant lequel le feu est encore maîtrisable.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79519" y="6177029"/>
            <a:ext cx="960872" cy="54912"/>
            <a:chOff x="0" y="0"/>
            <a:chExt cx="1281163" cy="73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1176" cy="73152"/>
            </a:xfrm>
            <a:custGeom>
              <a:avLst/>
              <a:gdLst/>
              <a:ahLst/>
              <a:cxnLst/>
              <a:rect r="r" b="b" t="t" l="l"/>
              <a:pathLst>
                <a:path h="73152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125239" y="6382931"/>
            <a:ext cx="5536511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7"/>
              </a:lnSpc>
            </a:pPr>
            <a:r>
              <a:rPr lang="en-US" sz="8406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5 jours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25239" y="7589758"/>
            <a:ext cx="5536511" cy="57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44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temps de revisite Sentinel-2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25239" y="7984465"/>
            <a:ext cx="5261981" cy="93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5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un trou noir informationnel structurel pour la prévention.</a:t>
            </a:r>
          </a:p>
        </p:txBody>
      </p:sp>
      <p:sp>
        <p:nvSpPr>
          <p:cNvPr name="AutoShape 28" id="28"/>
          <p:cNvSpPr/>
          <p:nvPr/>
        </p:nvSpPr>
        <p:spPr>
          <a:xfrm rot="1920">
            <a:off x="681571" y="9672580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732053" y="9758582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ÉCOLE CENTRALE CASABLANCA — LEARNING BY DOING — GROUPE 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40759" y="9758582"/>
            <a:ext cx="7224903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b="true" sz="1200" spc="300">
                <a:solidFill>
                  <a:srgbClr val="141414"/>
                </a:solidFill>
                <a:latin typeface="Consolas Bold"/>
                <a:ea typeface="Consolas Bold"/>
                <a:cs typeface="Consolas Bold"/>
                <a:sym typeface="Consolas Bold"/>
              </a:rPr>
              <a:t>P.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053" y="754971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F7F3EC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053" y="383229"/>
            <a:ext cx="5399246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86112" y="754971"/>
            <a:ext cx="4850178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b="true" sz="1651" spc="450">
                <a:solidFill>
                  <a:srgbClr val="F7F3EC"/>
                </a:solidFill>
                <a:latin typeface="Georgia Bold"/>
                <a:ea typeface="Georgia Bold"/>
                <a:cs typeface="Georgia Bold"/>
                <a:sym typeface="Georgia Bold"/>
              </a:rPr>
              <a:t>P. 04 / 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383229"/>
            <a:ext cx="4850178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450">
                <a:solidFill>
                  <a:srgbClr val="D44A1A"/>
                </a:solidFill>
                <a:latin typeface="Consolas"/>
                <a:ea typeface="Consolas"/>
                <a:cs typeface="Consolas"/>
                <a:sym typeface="Consolas"/>
              </a:rPr>
              <a:t>PROBLÉMATIQUE</a:t>
            </a:r>
          </a:p>
        </p:txBody>
      </p:sp>
      <p:sp>
        <p:nvSpPr>
          <p:cNvPr name="AutoShape 8" id="8"/>
          <p:cNvSpPr/>
          <p:nvPr/>
        </p:nvSpPr>
        <p:spPr>
          <a:xfrm rot="1920">
            <a:off x="681571" y="1299277"/>
            <a:ext cx="16934583" cy="0"/>
          </a:xfrm>
          <a:prstGeom prst="line">
            <a:avLst/>
          </a:prstGeom>
          <a:ln cap="rnd" w="95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32053" y="1765421"/>
            <a:ext cx="2653903" cy="345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3"/>
              </a:lnSpc>
            </a:pPr>
            <a:r>
              <a:rPr lang="en-US" sz="36028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77397" y="3080947"/>
            <a:ext cx="14047089" cy="144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3"/>
              </a:lnSpc>
            </a:pPr>
            <a:r>
              <a:rPr lang="en-US" sz="5404" i="true">
                <a:solidFill>
                  <a:srgbClr val="F7F3EC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Comment un système basé sur l'IA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77397" y="3835918"/>
            <a:ext cx="14047089" cy="144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3"/>
              </a:lnSpc>
            </a:pPr>
            <a:r>
              <a:rPr lang="en-US" sz="5404" i="true">
                <a:solidFill>
                  <a:srgbClr val="F7F3EC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et la robotique peut-il aider à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77397" y="4590888"/>
            <a:ext cx="14047089" cy="144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3"/>
              </a:lnSpc>
            </a:pPr>
            <a:r>
              <a:rPr lang="en-US" sz="5404" i="true">
                <a:solidFill>
                  <a:srgbClr val="F7F3EC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la prédiction et la prévention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77397" y="5345859"/>
            <a:ext cx="14047089" cy="144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3"/>
              </a:lnSpc>
            </a:pPr>
            <a:r>
              <a:rPr lang="en-US" sz="5404" i="true">
                <a:solidFill>
                  <a:srgbClr val="F7F3EC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des risques d'incendies de forêt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77397" y="6100829"/>
            <a:ext cx="14047089" cy="144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3"/>
              </a:lnSpc>
            </a:pPr>
            <a:r>
              <a:rPr lang="en-US" sz="5404" i="true">
                <a:solidFill>
                  <a:srgbClr val="D44A1A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dans les écosystèmes africains 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431677" y="7549696"/>
            <a:ext cx="686333" cy="41177"/>
            <a:chOff x="0" y="0"/>
            <a:chExt cx="915111" cy="549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5162" cy="54864"/>
            </a:xfrm>
            <a:custGeom>
              <a:avLst/>
              <a:gdLst/>
              <a:ahLst/>
              <a:cxnLst/>
              <a:rect r="r" b="b" t="t" l="l"/>
              <a:pathLst>
                <a:path h="54864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477397" y="7658386"/>
            <a:ext cx="10889942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45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PROBLÉMATIQUE FONDATRICE — RAPPORT TECHNIQUE GR7, CHAPITRE 1</a:t>
            </a:r>
          </a:p>
        </p:txBody>
      </p:sp>
      <p:sp>
        <p:nvSpPr>
          <p:cNvPr name="AutoShape 18" id="18"/>
          <p:cNvSpPr/>
          <p:nvPr/>
        </p:nvSpPr>
        <p:spPr>
          <a:xfrm rot="1920">
            <a:off x="681571" y="9672580"/>
            <a:ext cx="16934583" cy="0"/>
          </a:xfrm>
          <a:prstGeom prst="line">
            <a:avLst/>
          </a:prstGeom>
          <a:ln cap="rnd" w="95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732053" y="9758582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ÉCOLE CENTRALE CASABLANCA — LEARNING BY DOING — GROUPE 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40759" y="9758582"/>
            <a:ext cx="7224903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b="true" sz="1200" spc="300">
                <a:solidFill>
                  <a:srgbClr val="F7F3EC"/>
                </a:solidFill>
                <a:latin typeface="Consolas Bold"/>
                <a:ea typeface="Consolas Bold"/>
                <a:cs typeface="Consolas Bold"/>
                <a:sym typeface="Consolas Bold"/>
              </a:rPr>
              <a:t>P. 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053" y="383229"/>
            <a:ext cx="5399246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053" y="754971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86112" y="383229"/>
            <a:ext cx="4850178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450">
                <a:solidFill>
                  <a:srgbClr val="D44A1A"/>
                </a:solidFill>
                <a:latin typeface="Consolas"/>
                <a:ea typeface="Consolas"/>
                <a:cs typeface="Consolas"/>
                <a:sym typeface="Consolas"/>
              </a:rPr>
              <a:t>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754971"/>
            <a:ext cx="4850178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b="true" sz="1651" spc="45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P. 05 / 14</a:t>
            </a:r>
          </a:p>
        </p:txBody>
      </p:sp>
      <p:sp>
        <p:nvSpPr>
          <p:cNvPr name="AutoShape 8" id="8"/>
          <p:cNvSpPr/>
          <p:nvPr/>
        </p:nvSpPr>
        <p:spPr>
          <a:xfrm rot="1920">
            <a:off x="681571" y="1299277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32053" y="1637681"/>
            <a:ext cx="1830305" cy="117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7"/>
              </a:lnSpc>
            </a:pPr>
            <a:r>
              <a:rPr lang="en-US" sz="7806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259" y="1883645"/>
            <a:ext cx="539924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LA 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9259" y="2324014"/>
            <a:ext cx="15007952" cy="138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Une architecture en trois modules.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2053" y="3807343"/>
            <a:ext cx="16792432" cy="7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0"/>
              </a:lnSpc>
            </a:pPr>
            <a:r>
              <a:rPr lang="en-US" sz="2101" i="true">
                <a:solidFill>
                  <a:srgbClr val="333333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Validée au S5 — frugale, ciblée, alignée sur la littérature scientifique régionale.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1571" y="4936855"/>
            <a:ext cx="5637486" cy="4127554"/>
            <a:chOff x="0" y="0"/>
            <a:chExt cx="7516647" cy="55034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7503922" cy="5490718"/>
            </a:xfrm>
            <a:custGeom>
              <a:avLst/>
              <a:gdLst/>
              <a:ahLst/>
              <a:cxnLst/>
              <a:rect r="r" b="b" t="t" l="l"/>
              <a:pathLst>
                <a:path h="5490718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490718"/>
                  </a:lnTo>
                  <a:lnTo>
                    <a:pt x="0" y="5490718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16622" cy="5503418"/>
            </a:xfrm>
            <a:custGeom>
              <a:avLst/>
              <a:gdLst/>
              <a:ahLst/>
              <a:cxnLst/>
              <a:rect r="r" b="b" t="t" l="l"/>
              <a:pathLst>
                <a:path h="5503418" w="7516622">
                  <a:moveTo>
                    <a:pt x="6350" y="0"/>
                  </a:moveTo>
                  <a:lnTo>
                    <a:pt x="7510272" y="0"/>
                  </a:lnTo>
                  <a:cubicBezTo>
                    <a:pt x="7513828" y="0"/>
                    <a:pt x="7516622" y="2794"/>
                    <a:pt x="7516622" y="6350"/>
                  </a:cubicBezTo>
                  <a:lnTo>
                    <a:pt x="7516622" y="5497068"/>
                  </a:lnTo>
                  <a:cubicBezTo>
                    <a:pt x="7516622" y="5500624"/>
                    <a:pt x="7513828" y="5503418"/>
                    <a:pt x="7510272" y="5503418"/>
                  </a:cubicBezTo>
                  <a:lnTo>
                    <a:pt x="6350" y="5503418"/>
                  </a:lnTo>
                  <a:cubicBezTo>
                    <a:pt x="2794" y="5503418"/>
                    <a:pt x="0" y="5500624"/>
                    <a:pt x="0" y="5497068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5497068"/>
                  </a:lnTo>
                  <a:lnTo>
                    <a:pt x="6350" y="5497068"/>
                  </a:lnTo>
                  <a:lnTo>
                    <a:pt x="6350" y="5490718"/>
                  </a:lnTo>
                  <a:lnTo>
                    <a:pt x="7510272" y="5490718"/>
                  </a:lnTo>
                  <a:lnTo>
                    <a:pt x="7510272" y="5497068"/>
                  </a:lnTo>
                  <a:lnTo>
                    <a:pt x="7503922" y="5497068"/>
                  </a:lnTo>
                  <a:lnTo>
                    <a:pt x="7503922" y="6350"/>
                  </a:lnTo>
                  <a:lnTo>
                    <a:pt x="7510272" y="6350"/>
                  </a:lnTo>
                  <a:lnTo>
                    <a:pt x="751027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6333" y="4941618"/>
            <a:ext cx="5627951" cy="109814"/>
            <a:chOff x="0" y="0"/>
            <a:chExt cx="7503935" cy="1464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03922" cy="146431"/>
            </a:xfrm>
            <a:custGeom>
              <a:avLst/>
              <a:gdLst/>
              <a:ahLst/>
              <a:cxnLst/>
              <a:rect r="r" b="b" t="t" l="l"/>
              <a:pathLst>
                <a:path h="146431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43857" y="5315321"/>
            <a:ext cx="471291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M-01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857" y="5833853"/>
            <a:ext cx="4712913" cy="82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ACQUISITION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98137" y="6794725"/>
            <a:ext cx="549069" cy="34319"/>
            <a:chOff x="0" y="0"/>
            <a:chExt cx="732092" cy="457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2155" cy="45720"/>
            </a:xfrm>
            <a:custGeom>
              <a:avLst/>
              <a:gdLst/>
              <a:ahLst/>
              <a:cxnLst/>
              <a:rect r="r" b="b" t="t" l="l"/>
              <a:pathLst>
                <a:path h="45720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43857" y="6954964"/>
            <a:ext cx="4712913" cy="189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Vecteur robotique terrestre patrouillant sous canopée. Mesure DFMC, vent local mid-flame, VPD, pente et charge de combustible.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391885" y="4936855"/>
            <a:ext cx="5637486" cy="4127554"/>
            <a:chOff x="0" y="0"/>
            <a:chExt cx="7516647" cy="55034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7503922" cy="5490718"/>
            </a:xfrm>
            <a:custGeom>
              <a:avLst/>
              <a:gdLst/>
              <a:ahLst/>
              <a:cxnLst/>
              <a:rect r="r" b="b" t="t" l="l"/>
              <a:pathLst>
                <a:path h="5490718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490718"/>
                  </a:lnTo>
                  <a:lnTo>
                    <a:pt x="0" y="5490718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16622" cy="5503418"/>
            </a:xfrm>
            <a:custGeom>
              <a:avLst/>
              <a:gdLst/>
              <a:ahLst/>
              <a:cxnLst/>
              <a:rect r="r" b="b" t="t" l="l"/>
              <a:pathLst>
                <a:path h="5503418" w="7516622">
                  <a:moveTo>
                    <a:pt x="6350" y="0"/>
                  </a:moveTo>
                  <a:lnTo>
                    <a:pt x="7510272" y="0"/>
                  </a:lnTo>
                  <a:cubicBezTo>
                    <a:pt x="7513828" y="0"/>
                    <a:pt x="7516622" y="2794"/>
                    <a:pt x="7516622" y="6350"/>
                  </a:cubicBezTo>
                  <a:lnTo>
                    <a:pt x="7516622" y="5497068"/>
                  </a:lnTo>
                  <a:cubicBezTo>
                    <a:pt x="7516622" y="5500624"/>
                    <a:pt x="7513828" y="5503418"/>
                    <a:pt x="7510272" y="5503418"/>
                  </a:cubicBezTo>
                  <a:lnTo>
                    <a:pt x="6350" y="5503418"/>
                  </a:lnTo>
                  <a:cubicBezTo>
                    <a:pt x="2794" y="5503418"/>
                    <a:pt x="0" y="5500624"/>
                    <a:pt x="0" y="5497068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5497068"/>
                  </a:lnTo>
                  <a:lnTo>
                    <a:pt x="6350" y="5497068"/>
                  </a:lnTo>
                  <a:lnTo>
                    <a:pt x="6350" y="5490718"/>
                  </a:lnTo>
                  <a:lnTo>
                    <a:pt x="7510272" y="5490718"/>
                  </a:lnTo>
                  <a:lnTo>
                    <a:pt x="7510272" y="5497068"/>
                  </a:lnTo>
                  <a:lnTo>
                    <a:pt x="7503922" y="5497068"/>
                  </a:lnTo>
                  <a:lnTo>
                    <a:pt x="7503922" y="6350"/>
                  </a:lnTo>
                  <a:lnTo>
                    <a:pt x="7510272" y="6350"/>
                  </a:lnTo>
                  <a:lnTo>
                    <a:pt x="751027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396657" y="4941618"/>
            <a:ext cx="5627951" cy="109814"/>
            <a:chOff x="0" y="0"/>
            <a:chExt cx="7503935" cy="1464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03922" cy="146431"/>
            </a:xfrm>
            <a:custGeom>
              <a:avLst/>
              <a:gdLst/>
              <a:ahLst/>
              <a:cxnLst/>
              <a:rect r="r" b="b" t="t" l="l"/>
              <a:pathLst>
                <a:path h="146431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A84229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854171" y="5315321"/>
            <a:ext cx="471291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A84229"/>
                </a:solidFill>
                <a:latin typeface="Consolas Bold"/>
                <a:ea typeface="Consolas Bold"/>
                <a:cs typeface="Consolas Bold"/>
                <a:sym typeface="Consolas Bold"/>
              </a:rPr>
              <a:t>M-02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54171" y="5833853"/>
            <a:ext cx="4712913" cy="82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MODÉLISATION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808451" y="6794725"/>
            <a:ext cx="549069" cy="34319"/>
            <a:chOff x="0" y="0"/>
            <a:chExt cx="732092" cy="457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2155" cy="45720"/>
            </a:xfrm>
            <a:custGeom>
              <a:avLst/>
              <a:gdLst/>
              <a:ahLst/>
              <a:cxnLst/>
              <a:rect r="r" b="b" t="t" l="l"/>
              <a:pathLst>
                <a:path h="45720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A84229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6854171" y="6954964"/>
            <a:ext cx="4712913" cy="189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Pipeline d'assimilation de données puis automate cellulaire couplé au modèle de Rothermel pour simulation en temps réel.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102198" y="4936855"/>
            <a:ext cx="5637486" cy="4127554"/>
            <a:chOff x="0" y="0"/>
            <a:chExt cx="7516647" cy="550340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6350" y="6350"/>
              <a:ext cx="7503922" cy="5490718"/>
            </a:xfrm>
            <a:custGeom>
              <a:avLst/>
              <a:gdLst/>
              <a:ahLst/>
              <a:cxnLst/>
              <a:rect r="r" b="b" t="t" l="l"/>
              <a:pathLst>
                <a:path h="5490718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490718"/>
                  </a:lnTo>
                  <a:lnTo>
                    <a:pt x="0" y="5490718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516622" cy="5503418"/>
            </a:xfrm>
            <a:custGeom>
              <a:avLst/>
              <a:gdLst/>
              <a:ahLst/>
              <a:cxnLst/>
              <a:rect r="r" b="b" t="t" l="l"/>
              <a:pathLst>
                <a:path h="5503418" w="7516622">
                  <a:moveTo>
                    <a:pt x="6350" y="0"/>
                  </a:moveTo>
                  <a:lnTo>
                    <a:pt x="7510272" y="0"/>
                  </a:lnTo>
                  <a:cubicBezTo>
                    <a:pt x="7513828" y="0"/>
                    <a:pt x="7516622" y="2794"/>
                    <a:pt x="7516622" y="6350"/>
                  </a:cubicBezTo>
                  <a:lnTo>
                    <a:pt x="7516622" y="5497068"/>
                  </a:lnTo>
                  <a:cubicBezTo>
                    <a:pt x="7516622" y="5500624"/>
                    <a:pt x="7513828" y="5503418"/>
                    <a:pt x="7510272" y="5503418"/>
                  </a:cubicBezTo>
                  <a:lnTo>
                    <a:pt x="6350" y="5503418"/>
                  </a:lnTo>
                  <a:cubicBezTo>
                    <a:pt x="2794" y="5503418"/>
                    <a:pt x="0" y="5500624"/>
                    <a:pt x="0" y="5497068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5497068"/>
                  </a:lnTo>
                  <a:lnTo>
                    <a:pt x="6350" y="5497068"/>
                  </a:lnTo>
                  <a:lnTo>
                    <a:pt x="6350" y="5490718"/>
                  </a:lnTo>
                  <a:lnTo>
                    <a:pt x="7510272" y="5490718"/>
                  </a:lnTo>
                  <a:lnTo>
                    <a:pt x="7510272" y="5497068"/>
                  </a:lnTo>
                  <a:lnTo>
                    <a:pt x="7503922" y="5497068"/>
                  </a:lnTo>
                  <a:lnTo>
                    <a:pt x="7503922" y="6350"/>
                  </a:lnTo>
                  <a:lnTo>
                    <a:pt x="7510272" y="6350"/>
                  </a:lnTo>
                  <a:lnTo>
                    <a:pt x="751027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106970" y="4941618"/>
            <a:ext cx="5627951" cy="109814"/>
            <a:chOff x="0" y="0"/>
            <a:chExt cx="7503935" cy="14641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03922" cy="146431"/>
            </a:xfrm>
            <a:custGeom>
              <a:avLst/>
              <a:gdLst/>
              <a:ahLst/>
              <a:cxnLst/>
              <a:rect r="r" b="b" t="t" l="l"/>
              <a:pathLst>
                <a:path h="146431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9E3510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564494" y="5315321"/>
            <a:ext cx="471291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9E3510"/>
                </a:solidFill>
                <a:latin typeface="Consolas Bold"/>
                <a:ea typeface="Consolas Bold"/>
                <a:cs typeface="Consolas Bold"/>
                <a:sym typeface="Consolas Bold"/>
              </a:rPr>
              <a:t>M-03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64494" y="5833853"/>
            <a:ext cx="4712913" cy="82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DÉCISION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518774" y="6794725"/>
            <a:ext cx="549069" cy="34319"/>
            <a:chOff x="0" y="0"/>
            <a:chExt cx="732092" cy="4575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2155" cy="45720"/>
            </a:xfrm>
            <a:custGeom>
              <a:avLst/>
              <a:gdLst/>
              <a:ahLst/>
              <a:cxnLst/>
              <a:rect r="r" b="b" t="t" l="l"/>
              <a:pathLst>
                <a:path h="45720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9E3510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564494" y="6954964"/>
            <a:ext cx="4712913" cy="189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Cartographie 2D dynamique sur plateforme web. Alertes ciblées et identification des Fire Amplification Sites.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2053" y="9227439"/>
            <a:ext cx="16792432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 spc="600">
                <a:solidFill>
                  <a:srgbClr val="8E8B83"/>
                </a:solidFill>
                <a:latin typeface="Consolas Italics"/>
                <a:ea typeface="Consolas Italics"/>
                <a:cs typeface="Consolas Italics"/>
                <a:sym typeface="Consolas Italics"/>
              </a:rPr>
              <a:t>TERRAIN  →  MESURE  →  CALCUL  →  CARTOGRAPHIE  →  DÉCISION  →  ACTION</a:t>
            </a:r>
          </a:p>
        </p:txBody>
      </p:sp>
      <p:sp>
        <p:nvSpPr>
          <p:cNvPr name="AutoShape 44" id="44"/>
          <p:cNvSpPr/>
          <p:nvPr/>
        </p:nvSpPr>
        <p:spPr>
          <a:xfrm rot="1920">
            <a:off x="681571" y="9672580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732053" y="9758582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ÉCOLE CENTRALE CASABLANCA — LEARNING BY DOING — GROUPE 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40759" y="9758582"/>
            <a:ext cx="7224903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b="true" sz="1200" spc="300">
                <a:solidFill>
                  <a:srgbClr val="141414"/>
                </a:solidFill>
                <a:latin typeface="Consolas Bold"/>
                <a:ea typeface="Consolas Bold"/>
                <a:cs typeface="Consolas Bold"/>
                <a:sym typeface="Consolas Bold"/>
              </a:rPr>
              <a:t>P. 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053" y="383229"/>
            <a:ext cx="5399246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053" y="754971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86112" y="383229"/>
            <a:ext cx="4850178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450">
                <a:solidFill>
                  <a:srgbClr val="D44A1A"/>
                </a:solidFill>
                <a:latin typeface="Consolas"/>
                <a:ea typeface="Consolas"/>
                <a:cs typeface="Consolas"/>
                <a:sym typeface="Consolas"/>
              </a:rPr>
              <a:t>PLANNING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754971"/>
            <a:ext cx="4850178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b="true" sz="1651" spc="45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P. 06 / 14</a:t>
            </a:r>
          </a:p>
        </p:txBody>
      </p:sp>
      <p:sp>
        <p:nvSpPr>
          <p:cNvPr name="AutoShape 8" id="8"/>
          <p:cNvSpPr/>
          <p:nvPr/>
        </p:nvSpPr>
        <p:spPr>
          <a:xfrm rot="1920">
            <a:off x="681571" y="1299277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32053" y="1637681"/>
            <a:ext cx="1830305" cy="117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7"/>
              </a:lnSpc>
            </a:pPr>
            <a:r>
              <a:rPr lang="en-US" sz="7806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259" y="1883645"/>
            <a:ext cx="539924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AVANCEMENT GLOBAL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9259" y="2324014"/>
            <a:ext cx="15007952" cy="138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Diagramme de Gantt.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79259" y="3336427"/>
            <a:ext cx="15007952" cy="78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1951" i="true">
                <a:solidFill>
                  <a:srgbClr val="333333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Vue temporelle des chantiers — situation au 26 avril 2026.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2053" y="4707141"/>
            <a:ext cx="5124717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b="true" sz="1351" spc="450">
                <a:solidFill>
                  <a:srgbClr val="8E8B83"/>
                </a:solidFill>
                <a:latin typeface="Consolas Bold"/>
                <a:ea typeface="Consolas Bold"/>
                <a:cs typeface="Consolas Bold"/>
                <a:sym typeface="Consolas Bold"/>
              </a:rPr>
              <a:t>TÂCHE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48210" y="4707141"/>
            <a:ext cx="1853174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b="true" sz="1351" spc="450">
                <a:solidFill>
                  <a:srgbClr val="8E8B83"/>
                </a:solidFill>
                <a:latin typeface="Consolas Bold"/>
                <a:ea typeface="Consolas Bold"/>
                <a:cs typeface="Consolas Bold"/>
                <a:sym typeface="Consolas Bold"/>
              </a:rPr>
              <a:t>JAN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92834" y="4707141"/>
            <a:ext cx="1853174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b="true" sz="1351" spc="450">
                <a:solidFill>
                  <a:srgbClr val="8E8B83"/>
                </a:solidFill>
                <a:latin typeface="Consolas Bold"/>
                <a:ea typeface="Consolas Bold"/>
                <a:cs typeface="Consolas Bold"/>
                <a:sym typeface="Consolas Bold"/>
              </a:rPr>
              <a:t>FÉV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37449" y="4707141"/>
            <a:ext cx="1853174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b="true" sz="1351" spc="450">
                <a:solidFill>
                  <a:srgbClr val="8E8B83"/>
                </a:solidFill>
                <a:latin typeface="Consolas Bold"/>
                <a:ea typeface="Consolas Bold"/>
                <a:cs typeface="Consolas Bold"/>
                <a:sym typeface="Consolas Bold"/>
              </a:rPr>
              <a:t>MAR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82073" y="4707141"/>
            <a:ext cx="1853174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b="true" sz="1351" spc="450">
                <a:solidFill>
                  <a:srgbClr val="8E8B83"/>
                </a:solidFill>
                <a:latin typeface="Consolas Bold"/>
                <a:ea typeface="Consolas Bold"/>
                <a:cs typeface="Consolas Bold"/>
                <a:sym typeface="Consolas Bold"/>
              </a:rPr>
              <a:t>AVR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26687" y="4707141"/>
            <a:ext cx="1853174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b="true" sz="1351" spc="450">
                <a:solidFill>
                  <a:srgbClr val="8E8B83"/>
                </a:solidFill>
                <a:latin typeface="Consolas Bold"/>
                <a:ea typeface="Consolas Bold"/>
                <a:cs typeface="Consolas Bold"/>
                <a:sym typeface="Consolas Bold"/>
              </a:rPr>
              <a:t>MAI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71311" y="4707141"/>
            <a:ext cx="1853174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b="true" sz="1351" spc="450">
                <a:solidFill>
                  <a:srgbClr val="8E8B83"/>
                </a:solidFill>
                <a:latin typeface="Consolas Bold"/>
                <a:ea typeface="Consolas Bold"/>
                <a:cs typeface="Consolas Bold"/>
                <a:sym typeface="Consolas Bold"/>
              </a:rPr>
              <a:t>JUIN</a:t>
            </a:r>
          </a:p>
        </p:txBody>
      </p:sp>
      <p:sp>
        <p:nvSpPr>
          <p:cNvPr name="AutoShape 20" id="20"/>
          <p:cNvSpPr/>
          <p:nvPr/>
        </p:nvSpPr>
        <p:spPr>
          <a:xfrm rot="2880">
            <a:off x="679180" y="5211394"/>
            <a:ext cx="16898179" cy="0"/>
          </a:xfrm>
          <a:prstGeom prst="line">
            <a:avLst/>
          </a:prstGeom>
          <a:ln cap="rnd" w="9525">
            <a:solidFill>
              <a:srgbClr val="14141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754971" y="5325970"/>
            <a:ext cx="5078882" cy="356892"/>
            <a:chOff x="0" y="0"/>
            <a:chExt cx="6771843" cy="4758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71849" cy="475860"/>
            </a:xfrm>
            <a:custGeom>
              <a:avLst/>
              <a:gdLst/>
              <a:ahLst/>
              <a:cxnLst/>
              <a:rect r="r" b="b" t="t" l="l"/>
              <a:pathLst>
                <a:path h="475860" w="6771849">
                  <a:moveTo>
                    <a:pt x="0" y="0"/>
                  </a:moveTo>
                  <a:lnTo>
                    <a:pt x="6771849" y="0"/>
                  </a:lnTo>
                  <a:lnTo>
                    <a:pt x="6771849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287" r="0" b="-22728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771843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14141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Recherche &amp; cadrage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902490" y="5422059"/>
            <a:ext cx="11667715" cy="164725"/>
            <a:chOff x="0" y="0"/>
            <a:chExt cx="15556954" cy="2196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556992" cy="219583"/>
            </a:xfrm>
            <a:custGeom>
              <a:avLst/>
              <a:gdLst/>
              <a:ahLst/>
              <a:cxnLst/>
              <a:rect r="r" b="b" t="t" l="l"/>
              <a:pathLst>
                <a:path h="219583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E5DFC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902490" y="5353421"/>
            <a:ext cx="2916926" cy="301990"/>
            <a:chOff x="0" y="0"/>
            <a:chExt cx="3889235" cy="4026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89248" cy="402590"/>
            </a:xfrm>
            <a:custGeom>
              <a:avLst/>
              <a:gdLst/>
              <a:ahLst/>
              <a:cxnLst/>
              <a:rect r="r" b="b" t="t" l="l"/>
              <a:pathLst>
                <a:path h="402590" w="3889248">
                  <a:moveTo>
                    <a:pt x="0" y="0"/>
                  </a:moveTo>
                  <a:lnTo>
                    <a:pt x="3889248" y="0"/>
                  </a:lnTo>
                  <a:lnTo>
                    <a:pt x="3889248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5696588"/>
            <a:ext cx="5078882" cy="356892"/>
            <a:chOff x="0" y="0"/>
            <a:chExt cx="6771843" cy="4758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71849" cy="475860"/>
            </a:xfrm>
            <a:custGeom>
              <a:avLst/>
              <a:gdLst/>
              <a:ahLst/>
              <a:cxnLst/>
              <a:rect r="r" b="b" t="t" l="l"/>
              <a:pathLst>
                <a:path h="475860" w="6771849">
                  <a:moveTo>
                    <a:pt x="0" y="0"/>
                  </a:moveTo>
                  <a:lnTo>
                    <a:pt x="6771849" y="0"/>
                  </a:lnTo>
                  <a:lnTo>
                    <a:pt x="6771849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287" r="0" b="-2272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771843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14141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jury S5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902490" y="5792676"/>
            <a:ext cx="11667715" cy="164725"/>
            <a:chOff x="0" y="0"/>
            <a:chExt cx="1555695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556992" cy="219583"/>
            </a:xfrm>
            <a:custGeom>
              <a:avLst/>
              <a:gdLst/>
              <a:ahLst/>
              <a:cxnLst/>
              <a:rect r="r" b="b" t="t" l="l"/>
              <a:pathLst>
                <a:path h="219583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E5DFC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819417" y="5724039"/>
            <a:ext cx="972312" cy="301990"/>
            <a:chOff x="0" y="0"/>
            <a:chExt cx="1296416" cy="4026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96416" cy="402590"/>
            </a:xfrm>
            <a:custGeom>
              <a:avLst/>
              <a:gdLst/>
              <a:ahLst/>
              <a:cxnLst/>
              <a:rect r="r" b="b" t="t" l="l"/>
              <a:pathLst>
                <a:path h="402590" w="1296416">
                  <a:moveTo>
                    <a:pt x="0" y="0"/>
                  </a:moveTo>
                  <a:lnTo>
                    <a:pt x="1296416" y="0"/>
                  </a:lnTo>
                  <a:lnTo>
                    <a:pt x="1296416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54971" y="6067215"/>
            <a:ext cx="5078882" cy="356892"/>
            <a:chOff x="0" y="0"/>
            <a:chExt cx="6771843" cy="4758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71849" cy="475860"/>
            </a:xfrm>
            <a:custGeom>
              <a:avLst/>
              <a:gdLst/>
              <a:ahLst/>
              <a:cxnLst/>
              <a:rect r="r" b="b" t="t" l="l"/>
              <a:pathLst>
                <a:path h="475860" w="6771849">
                  <a:moveTo>
                    <a:pt x="0" y="0"/>
                  </a:moveTo>
                  <a:lnTo>
                    <a:pt x="6771849" y="0"/>
                  </a:lnTo>
                  <a:lnTo>
                    <a:pt x="6771849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287" r="0" b="-22728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771843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14141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Conception logicielle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902490" y="6163294"/>
            <a:ext cx="11667715" cy="164725"/>
            <a:chOff x="0" y="0"/>
            <a:chExt cx="15556954" cy="2196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556992" cy="219583"/>
            </a:xfrm>
            <a:custGeom>
              <a:avLst/>
              <a:gdLst/>
              <a:ahLst/>
              <a:cxnLst/>
              <a:rect r="r" b="b" t="t" l="l"/>
              <a:pathLst>
                <a:path h="219583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E5DFC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02804" y="6094666"/>
            <a:ext cx="3305851" cy="301990"/>
            <a:chOff x="0" y="0"/>
            <a:chExt cx="4407802" cy="4026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07789" cy="402590"/>
            </a:xfrm>
            <a:custGeom>
              <a:avLst/>
              <a:gdLst/>
              <a:ahLst/>
              <a:cxnLst/>
              <a:rect r="r" b="b" t="t" l="l"/>
              <a:pathLst>
                <a:path h="402590" w="4407789">
                  <a:moveTo>
                    <a:pt x="0" y="0"/>
                  </a:moveTo>
                  <a:lnTo>
                    <a:pt x="4407789" y="0"/>
                  </a:lnTo>
                  <a:lnTo>
                    <a:pt x="4407789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54971" y="6437833"/>
            <a:ext cx="5078882" cy="356892"/>
            <a:chOff x="0" y="0"/>
            <a:chExt cx="6771843" cy="4758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71849" cy="475860"/>
            </a:xfrm>
            <a:custGeom>
              <a:avLst/>
              <a:gdLst/>
              <a:ahLst/>
              <a:cxnLst/>
              <a:rect r="r" b="b" t="t" l="l"/>
              <a:pathLst>
                <a:path h="475860" w="6771849">
                  <a:moveTo>
                    <a:pt x="0" y="0"/>
                  </a:moveTo>
                  <a:lnTo>
                    <a:pt x="6771849" y="0"/>
                  </a:lnTo>
                  <a:lnTo>
                    <a:pt x="6771849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287" r="0" b="-22728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771843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14141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Plateforme web Flask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902490" y="6533921"/>
            <a:ext cx="11667715" cy="164725"/>
            <a:chOff x="0" y="0"/>
            <a:chExt cx="15556954" cy="2196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56992" cy="219583"/>
            </a:xfrm>
            <a:custGeom>
              <a:avLst/>
              <a:gdLst/>
              <a:ahLst/>
              <a:cxnLst/>
              <a:rect r="r" b="b" t="t" l="l"/>
              <a:pathLst>
                <a:path h="219583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E5DFC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764041" y="6465284"/>
            <a:ext cx="2722464" cy="301990"/>
            <a:chOff x="0" y="0"/>
            <a:chExt cx="3629952" cy="40265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29914" cy="402590"/>
            </a:xfrm>
            <a:custGeom>
              <a:avLst/>
              <a:gdLst/>
              <a:ahLst/>
              <a:cxnLst/>
              <a:rect r="r" b="b" t="t" l="l"/>
              <a:pathLst>
                <a:path h="402590" w="3629914">
                  <a:moveTo>
                    <a:pt x="0" y="0"/>
                  </a:moveTo>
                  <a:lnTo>
                    <a:pt x="3629914" y="0"/>
                  </a:lnTo>
                  <a:lnTo>
                    <a:pt x="36299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54971" y="6808451"/>
            <a:ext cx="5078882" cy="356892"/>
            <a:chOff x="0" y="0"/>
            <a:chExt cx="6771843" cy="4758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71849" cy="475860"/>
            </a:xfrm>
            <a:custGeom>
              <a:avLst/>
              <a:gdLst/>
              <a:ahLst/>
              <a:cxnLst/>
              <a:rect r="r" b="b" t="t" l="l"/>
              <a:pathLst>
                <a:path h="475860" w="6771849">
                  <a:moveTo>
                    <a:pt x="0" y="0"/>
                  </a:moveTo>
                  <a:lnTo>
                    <a:pt x="6771849" y="0"/>
                  </a:lnTo>
                  <a:lnTo>
                    <a:pt x="6771849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287" r="0" b="-22728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771843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14141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Tests unitaires capteurs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902490" y="6904539"/>
            <a:ext cx="11667715" cy="164725"/>
            <a:chOff x="0" y="0"/>
            <a:chExt cx="15556954" cy="21963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556992" cy="219583"/>
            </a:xfrm>
            <a:custGeom>
              <a:avLst/>
              <a:gdLst/>
              <a:ahLst/>
              <a:cxnLst/>
              <a:rect r="r" b="b" t="t" l="l"/>
              <a:pathLst>
                <a:path h="219583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E5DFC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736353" y="6835912"/>
            <a:ext cx="1944614" cy="301990"/>
            <a:chOff x="0" y="0"/>
            <a:chExt cx="2592819" cy="40265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92832" cy="402590"/>
            </a:xfrm>
            <a:custGeom>
              <a:avLst/>
              <a:gdLst/>
              <a:ahLst/>
              <a:cxnLst/>
              <a:rect r="r" b="b" t="t" l="l"/>
              <a:pathLst>
                <a:path h="402590" w="2592832">
                  <a:moveTo>
                    <a:pt x="0" y="0"/>
                  </a:moveTo>
                  <a:lnTo>
                    <a:pt x="2592832" y="0"/>
                  </a:lnTo>
                  <a:lnTo>
                    <a:pt x="2592832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54971" y="7179078"/>
            <a:ext cx="5078882" cy="356892"/>
            <a:chOff x="0" y="0"/>
            <a:chExt cx="6771843" cy="4758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771849" cy="475860"/>
            </a:xfrm>
            <a:custGeom>
              <a:avLst/>
              <a:gdLst/>
              <a:ahLst/>
              <a:cxnLst/>
              <a:rect r="r" b="b" t="t" l="l"/>
              <a:pathLst>
                <a:path h="475860" w="6771849">
                  <a:moveTo>
                    <a:pt x="0" y="0"/>
                  </a:moveTo>
                  <a:lnTo>
                    <a:pt x="6771849" y="0"/>
                  </a:lnTo>
                  <a:lnTo>
                    <a:pt x="6771849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287" r="0" b="-22728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771843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14141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Soudures &amp; assemblage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902490" y="7275166"/>
            <a:ext cx="11667715" cy="164725"/>
            <a:chOff x="0" y="0"/>
            <a:chExt cx="15556954" cy="21963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556992" cy="219583"/>
            </a:xfrm>
            <a:custGeom>
              <a:avLst/>
              <a:gdLst/>
              <a:ahLst/>
              <a:cxnLst/>
              <a:rect r="r" b="b" t="t" l="l"/>
              <a:pathLst>
                <a:path h="219583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E5DFC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319730" y="7206529"/>
            <a:ext cx="2333539" cy="301990"/>
            <a:chOff x="0" y="0"/>
            <a:chExt cx="3111386" cy="40265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111373" cy="402590"/>
            </a:xfrm>
            <a:custGeom>
              <a:avLst/>
              <a:gdLst/>
              <a:ahLst/>
              <a:cxnLst/>
              <a:rect r="r" b="b" t="t" l="l"/>
              <a:pathLst>
                <a:path h="402590" w="3111373">
                  <a:moveTo>
                    <a:pt x="0" y="0"/>
                  </a:moveTo>
                  <a:lnTo>
                    <a:pt x="3111373" y="0"/>
                  </a:lnTo>
                  <a:lnTo>
                    <a:pt x="3111373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754971" y="7549696"/>
            <a:ext cx="5078882" cy="356892"/>
            <a:chOff x="0" y="0"/>
            <a:chExt cx="6771843" cy="4758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771849" cy="475860"/>
            </a:xfrm>
            <a:custGeom>
              <a:avLst/>
              <a:gdLst/>
              <a:ahLst/>
              <a:cxnLst/>
              <a:rect r="r" b="b" t="t" l="l"/>
              <a:pathLst>
                <a:path h="475860" w="6771849">
                  <a:moveTo>
                    <a:pt x="0" y="0"/>
                  </a:moveTo>
                  <a:lnTo>
                    <a:pt x="6771849" y="0"/>
                  </a:lnTo>
                  <a:lnTo>
                    <a:pt x="6771849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287" r="0" b="-22728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771843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14141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Intégration mécanique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902490" y="7645784"/>
            <a:ext cx="11667715" cy="164725"/>
            <a:chOff x="0" y="0"/>
            <a:chExt cx="15556954" cy="21963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5556992" cy="219583"/>
            </a:xfrm>
            <a:custGeom>
              <a:avLst/>
              <a:gdLst/>
              <a:ahLst/>
              <a:cxnLst/>
              <a:rect r="r" b="b" t="t" l="l"/>
              <a:pathLst>
                <a:path h="219583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E5DFC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680967" y="7577147"/>
            <a:ext cx="1944614" cy="301990"/>
            <a:chOff x="0" y="0"/>
            <a:chExt cx="2592819" cy="40265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92832" cy="402590"/>
            </a:xfrm>
            <a:custGeom>
              <a:avLst/>
              <a:gdLst/>
              <a:ahLst/>
              <a:cxnLst/>
              <a:rect r="r" b="b" t="t" l="l"/>
              <a:pathLst>
                <a:path h="402590" w="2592832">
                  <a:moveTo>
                    <a:pt x="0" y="0"/>
                  </a:moveTo>
                  <a:lnTo>
                    <a:pt x="2592832" y="0"/>
                  </a:lnTo>
                  <a:lnTo>
                    <a:pt x="2592832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8E8B8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754971" y="7920323"/>
            <a:ext cx="5078882" cy="356892"/>
            <a:chOff x="0" y="0"/>
            <a:chExt cx="6771843" cy="47585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771849" cy="475860"/>
            </a:xfrm>
            <a:custGeom>
              <a:avLst/>
              <a:gdLst/>
              <a:ahLst/>
              <a:cxnLst/>
              <a:rect r="r" b="b" t="t" l="l"/>
              <a:pathLst>
                <a:path h="475860" w="6771849">
                  <a:moveTo>
                    <a:pt x="0" y="0"/>
                  </a:moveTo>
                  <a:lnTo>
                    <a:pt x="6771849" y="0"/>
                  </a:lnTo>
                  <a:lnTo>
                    <a:pt x="6771849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287" r="0" b="-22728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771843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14141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Pipeline ML XGBoost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902490" y="8016411"/>
            <a:ext cx="11667715" cy="164725"/>
            <a:chOff x="0" y="0"/>
            <a:chExt cx="15556954" cy="21963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5556992" cy="219583"/>
            </a:xfrm>
            <a:custGeom>
              <a:avLst/>
              <a:gdLst/>
              <a:ahLst/>
              <a:cxnLst/>
              <a:rect r="r" b="b" t="t" l="l"/>
              <a:pathLst>
                <a:path h="219583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E5DFC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708655" y="7947774"/>
            <a:ext cx="2528002" cy="301990"/>
            <a:chOff x="0" y="0"/>
            <a:chExt cx="3370669" cy="40265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370707" cy="402590"/>
            </a:xfrm>
            <a:custGeom>
              <a:avLst/>
              <a:gdLst/>
              <a:ahLst/>
              <a:cxnLst/>
              <a:rect r="r" b="b" t="t" l="l"/>
              <a:pathLst>
                <a:path h="402590" w="3370707">
                  <a:moveTo>
                    <a:pt x="0" y="0"/>
                  </a:moveTo>
                  <a:lnTo>
                    <a:pt x="3370707" y="0"/>
                  </a:lnTo>
                  <a:lnTo>
                    <a:pt x="337070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54971" y="8290941"/>
            <a:ext cx="5078882" cy="356892"/>
            <a:chOff x="0" y="0"/>
            <a:chExt cx="6771843" cy="4758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71849" cy="475860"/>
            </a:xfrm>
            <a:custGeom>
              <a:avLst/>
              <a:gdLst/>
              <a:ahLst/>
              <a:cxnLst/>
              <a:rect r="r" b="b" t="t" l="l"/>
              <a:pathLst>
                <a:path h="475860" w="6771849">
                  <a:moveTo>
                    <a:pt x="0" y="0"/>
                  </a:moveTo>
                  <a:lnTo>
                    <a:pt x="6771849" y="0"/>
                  </a:lnTo>
                  <a:lnTo>
                    <a:pt x="6771849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287" r="0" b="-22728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771843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14141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Reconnaissance végétation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902490" y="8387029"/>
            <a:ext cx="11667715" cy="164725"/>
            <a:chOff x="0" y="0"/>
            <a:chExt cx="15556954" cy="21963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5556992" cy="219583"/>
            </a:xfrm>
            <a:custGeom>
              <a:avLst/>
              <a:gdLst/>
              <a:ahLst/>
              <a:cxnLst/>
              <a:rect r="r" b="b" t="t" l="l"/>
              <a:pathLst>
                <a:path h="219583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E5DFC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4653279" y="8318392"/>
            <a:ext cx="1944614" cy="301990"/>
            <a:chOff x="0" y="0"/>
            <a:chExt cx="2592819" cy="40265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592832" cy="402590"/>
            </a:xfrm>
            <a:custGeom>
              <a:avLst/>
              <a:gdLst/>
              <a:ahLst/>
              <a:cxnLst/>
              <a:rect r="r" b="b" t="t" l="l"/>
              <a:pathLst>
                <a:path h="402590" w="2592832">
                  <a:moveTo>
                    <a:pt x="0" y="0"/>
                  </a:moveTo>
                  <a:lnTo>
                    <a:pt x="2592832" y="0"/>
                  </a:lnTo>
                  <a:lnTo>
                    <a:pt x="2592832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8E8B83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54971" y="8661559"/>
            <a:ext cx="5078882" cy="356892"/>
            <a:chOff x="0" y="0"/>
            <a:chExt cx="6771843" cy="47585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771849" cy="475860"/>
            </a:xfrm>
            <a:custGeom>
              <a:avLst/>
              <a:gdLst/>
              <a:ahLst/>
              <a:cxnLst/>
              <a:rect r="r" b="b" t="t" l="l"/>
              <a:pathLst>
                <a:path h="475860" w="6771849">
                  <a:moveTo>
                    <a:pt x="0" y="0"/>
                  </a:moveTo>
                  <a:lnTo>
                    <a:pt x="6771849" y="0"/>
                  </a:lnTo>
                  <a:lnTo>
                    <a:pt x="6771849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287" r="0" b="-22728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6771843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14141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Émulateur propagation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5902490" y="8757647"/>
            <a:ext cx="11667715" cy="164725"/>
            <a:chOff x="0" y="0"/>
            <a:chExt cx="15556954" cy="21963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5556992" cy="219583"/>
            </a:xfrm>
            <a:custGeom>
              <a:avLst/>
              <a:gdLst/>
              <a:ahLst/>
              <a:cxnLst/>
              <a:rect r="r" b="b" t="t" l="l"/>
              <a:pathLst>
                <a:path h="219583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E5DFC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5625591" y="8689019"/>
            <a:ext cx="1555690" cy="301990"/>
            <a:chOff x="0" y="0"/>
            <a:chExt cx="2074253" cy="40265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74291" cy="402590"/>
            </a:xfrm>
            <a:custGeom>
              <a:avLst/>
              <a:gdLst/>
              <a:ahLst/>
              <a:cxnLst/>
              <a:rect r="r" b="b" t="t" l="l"/>
              <a:pathLst>
                <a:path h="402590" w="2074291">
                  <a:moveTo>
                    <a:pt x="0" y="0"/>
                  </a:moveTo>
                  <a:lnTo>
                    <a:pt x="2074291" y="0"/>
                  </a:lnTo>
                  <a:lnTo>
                    <a:pt x="2074291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8E8B83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754971" y="9032186"/>
            <a:ext cx="5078882" cy="356892"/>
            <a:chOff x="0" y="0"/>
            <a:chExt cx="6771843" cy="47585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771849" cy="475860"/>
            </a:xfrm>
            <a:custGeom>
              <a:avLst/>
              <a:gdLst/>
              <a:ahLst/>
              <a:cxnLst/>
              <a:rect r="r" b="b" t="t" l="l"/>
              <a:pathLst>
                <a:path h="475860" w="6771849">
                  <a:moveTo>
                    <a:pt x="0" y="0"/>
                  </a:moveTo>
                  <a:lnTo>
                    <a:pt x="6771849" y="0"/>
                  </a:lnTo>
                  <a:lnTo>
                    <a:pt x="6771849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287" r="0" b="-22728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6771843" cy="51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14141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Démo Project Expo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5902490" y="9128274"/>
            <a:ext cx="11667715" cy="164725"/>
            <a:chOff x="0" y="0"/>
            <a:chExt cx="15556954" cy="21963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5556992" cy="219583"/>
            </a:xfrm>
            <a:custGeom>
              <a:avLst/>
              <a:gdLst/>
              <a:ahLst/>
              <a:cxnLst/>
              <a:rect r="r" b="b" t="t" l="l"/>
              <a:pathLst>
                <a:path h="219583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E5DFCF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6597894" y="9059637"/>
            <a:ext cx="972312" cy="301990"/>
            <a:chOff x="0" y="0"/>
            <a:chExt cx="1296416" cy="40265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296416" cy="402590"/>
            </a:xfrm>
            <a:custGeom>
              <a:avLst/>
              <a:gdLst/>
              <a:ahLst/>
              <a:cxnLst/>
              <a:rect r="r" b="b" t="t" l="l"/>
              <a:pathLst>
                <a:path h="402590" w="1296416">
                  <a:moveTo>
                    <a:pt x="0" y="0"/>
                  </a:moveTo>
                  <a:lnTo>
                    <a:pt x="1296416" y="0"/>
                  </a:lnTo>
                  <a:lnTo>
                    <a:pt x="1296416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8E8B83"/>
            </a:solidFill>
          </p:spPr>
        </p:sp>
      </p:grpSp>
      <p:sp>
        <p:nvSpPr>
          <p:cNvPr name="AutoShape 98" id="98"/>
          <p:cNvSpPr/>
          <p:nvPr/>
        </p:nvSpPr>
        <p:spPr>
          <a:xfrm rot="5393820">
            <a:off x="3791626" y="7318448"/>
            <a:ext cx="4221737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9" id="99"/>
          <p:cNvSpPr/>
          <p:nvPr/>
        </p:nvSpPr>
        <p:spPr>
          <a:xfrm rot="5393820">
            <a:off x="5736241" y="7318448"/>
            <a:ext cx="4221737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0" id="100"/>
          <p:cNvSpPr/>
          <p:nvPr/>
        </p:nvSpPr>
        <p:spPr>
          <a:xfrm rot="5393820">
            <a:off x="7680865" y="7318448"/>
            <a:ext cx="4221737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1" id="101"/>
          <p:cNvSpPr/>
          <p:nvPr/>
        </p:nvSpPr>
        <p:spPr>
          <a:xfrm rot="5393820">
            <a:off x="9625479" y="7318448"/>
            <a:ext cx="4221737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2" id="102"/>
          <p:cNvSpPr/>
          <p:nvPr/>
        </p:nvSpPr>
        <p:spPr>
          <a:xfrm rot="5393820">
            <a:off x="11570103" y="7318448"/>
            <a:ext cx="4221737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 rot="5393820">
            <a:off x="13514718" y="7318448"/>
            <a:ext cx="4221737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 rot="5393820">
            <a:off x="15459342" y="7318448"/>
            <a:ext cx="4221737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 rot="5372700">
            <a:off x="11280238" y="7039146"/>
            <a:ext cx="4801457" cy="0"/>
          </a:xfrm>
          <a:prstGeom prst="line">
            <a:avLst/>
          </a:prstGeom>
          <a:ln cap="rnd" w="19050">
            <a:solidFill>
              <a:srgbClr val="D44A1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6" id="106"/>
          <p:cNvSpPr txBox="true"/>
          <p:nvPr/>
        </p:nvSpPr>
        <p:spPr>
          <a:xfrm rot="0">
            <a:off x="13040354" y="4707141"/>
            <a:ext cx="1281236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b="true" sz="1200" spc="3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AUJ.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1393176" y="4186647"/>
            <a:ext cx="343167" cy="205902"/>
            <a:chOff x="0" y="0"/>
            <a:chExt cx="457556" cy="2745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57581" cy="274574"/>
            </a:xfrm>
            <a:custGeom>
              <a:avLst/>
              <a:gdLst/>
              <a:ahLst/>
              <a:cxnLst/>
              <a:rect r="r" b="b" t="t" l="l"/>
              <a:pathLst>
                <a:path h="2745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sp>
        <p:nvSpPr>
          <p:cNvPr name="TextBox 109" id="109"/>
          <p:cNvSpPr txBox="true"/>
          <p:nvPr/>
        </p:nvSpPr>
        <p:spPr>
          <a:xfrm rot="0">
            <a:off x="11919337" y="4093645"/>
            <a:ext cx="128123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Fait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13314921" y="4186647"/>
            <a:ext cx="343167" cy="205902"/>
            <a:chOff x="0" y="0"/>
            <a:chExt cx="457556" cy="2745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57581" cy="274574"/>
            </a:xfrm>
            <a:custGeom>
              <a:avLst/>
              <a:gdLst/>
              <a:ahLst/>
              <a:cxnLst/>
              <a:rect r="r" b="b" t="t" l="l"/>
              <a:pathLst>
                <a:path h="2745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112" id="112"/>
          <p:cNvSpPr txBox="true"/>
          <p:nvPr/>
        </p:nvSpPr>
        <p:spPr>
          <a:xfrm rot="0">
            <a:off x="13841082" y="4093645"/>
            <a:ext cx="128123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En cours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5236666" y="4186647"/>
            <a:ext cx="343167" cy="205902"/>
            <a:chOff x="0" y="0"/>
            <a:chExt cx="457556" cy="27453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57581" cy="274574"/>
            </a:xfrm>
            <a:custGeom>
              <a:avLst/>
              <a:gdLst/>
              <a:ahLst/>
              <a:cxnLst/>
              <a:rect r="r" b="b" t="t" l="l"/>
              <a:pathLst>
                <a:path h="2745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8E8B83"/>
            </a:solidFill>
          </p:spPr>
        </p:sp>
      </p:grpSp>
      <p:sp>
        <p:nvSpPr>
          <p:cNvPr name="TextBox 115" id="115"/>
          <p:cNvSpPr txBox="true"/>
          <p:nvPr/>
        </p:nvSpPr>
        <p:spPr>
          <a:xfrm rot="0">
            <a:off x="15762818" y="4093645"/>
            <a:ext cx="128123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À venir</a:t>
            </a:r>
          </a:p>
        </p:txBody>
      </p:sp>
      <p:sp>
        <p:nvSpPr>
          <p:cNvPr name="AutoShape 116" id="116"/>
          <p:cNvSpPr/>
          <p:nvPr/>
        </p:nvSpPr>
        <p:spPr>
          <a:xfrm rot="1920">
            <a:off x="681571" y="9672580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7" id="117"/>
          <p:cNvSpPr txBox="true"/>
          <p:nvPr/>
        </p:nvSpPr>
        <p:spPr>
          <a:xfrm rot="0">
            <a:off x="732053" y="9758582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ÉCOLE CENTRALE CASABLANCA — LEARNING BY DOING — GROUPE 7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0340759" y="9758582"/>
            <a:ext cx="7224903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b="true" sz="1200" spc="300">
                <a:solidFill>
                  <a:srgbClr val="141414"/>
                </a:solidFill>
                <a:latin typeface="Consolas Bold"/>
                <a:ea typeface="Consolas Bold"/>
                <a:cs typeface="Consolas Bold"/>
                <a:sym typeface="Consolas Bold"/>
              </a:rPr>
              <a:t>P. 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053" y="383229"/>
            <a:ext cx="5399246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053" y="754971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86112" y="383229"/>
            <a:ext cx="4850178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450">
                <a:solidFill>
                  <a:srgbClr val="D44A1A"/>
                </a:solidFill>
                <a:latin typeface="Consolas"/>
                <a:ea typeface="Consolas"/>
                <a:cs typeface="Consolas"/>
                <a:sym typeface="Consolas"/>
              </a:rPr>
              <a:t>TESTS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754971"/>
            <a:ext cx="4850178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b="true" sz="1651" spc="45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P. 07 / 14</a:t>
            </a:r>
          </a:p>
        </p:txBody>
      </p:sp>
      <p:sp>
        <p:nvSpPr>
          <p:cNvPr name="AutoShape 8" id="8"/>
          <p:cNvSpPr/>
          <p:nvPr/>
        </p:nvSpPr>
        <p:spPr>
          <a:xfrm rot="1920">
            <a:off x="681571" y="1299277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32053" y="1637681"/>
            <a:ext cx="1830305" cy="117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7"/>
              </a:lnSpc>
            </a:pPr>
            <a:r>
              <a:rPr lang="en-US" sz="7806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259" y="1883645"/>
            <a:ext cx="539924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BANC D'ESSAI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9259" y="2324014"/>
            <a:ext cx="15007952" cy="138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Ce que nous avons réellement testé.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79259" y="3336427"/>
            <a:ext cx="15007952" cy="78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1951" i="true">
                <a:solidFill>
                  <a:srgbClr val="333333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Composants validés un par un avant intégration. Soudures réalisées. Photos à l'appui.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6333" y="4392549"/>
            <a:ext cx="4186647" cy="2196274"/>
            <a:chOff x="0" y="0"/>
            <a:chExt cx="5582196" cy="29283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82158" cy="2928366"/>
            </a:xfrm>
            <a:custGeom>
              <a:avLst/>
              <a:gdLst/>
              <a:ahLst/>
              <a:cxnLst/>
              <a:rect r="r" b="b" t="t" l="l"/>
              <a:pathLst>
                <a:path h="2928366" w="5582158">
                  <a:moveTo>
                    <a:pt x="0" y="0"/>
                  </a:moveTo>
                  <a:lnTo>
                    <a:pt x="5582158" y="0"/>
                  </a:lnTo>
                  <a:lnTo>
                    <a:pt x="5582158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6333" y="4392549"/>
            <a:ext cx="4186647" cy="2196274"/>
            <a:chOff x="0" y="0"/>
            <a:chExt cx="5582196" cy="29283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82201" cy="2928368"/>
            </a:xfrm>
            <a:custGeom>
              <a:avLst/>
              <a:gdLst/>
              <a:ahLst/>
              <a:cxnLst/>
              <a:rect r="r" b="b" t="t" l="l"/>
              <a:pathLst>
                <a:path h="2928368" w="5582201">
                  <a:moveTo>
                    <a:pt x="0" y="0"/>
                  </a:moveTo>
                  <a:lnTo>
                    <a:pt x="5582201" y="0"/>
                  </a:lnTo>
                  <a:lnTo>
                    <a:pt x="5582201" y="2928368"/>
                  </a:lnTo>
                  <a:lnTo>
                    <a:pt x="0" y="292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306" t="0" r="-1730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582196" cy="29569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spc="600">
                  <a:solidFill>
                    <a:srgbClr val="8E8B83"/>
                  </a:solidFill>
                  <a:latin typeface="Consolas"/>
                  <a:ea typeface="Consolas"/>
                  <a:cs typeface="Consolas"/>
                  <a:sym typeface="Consolas"/>
                </a:rPr>
                <a:t>[ PHOTO ]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2523" y="6585014"/>
            <a:ext cx="4194277" cy="2752973"/>
            <a:chOff x="0" y="0"/>
            <a:chExt cx="5592369" cy="36706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80" y="5080"/>
              <a:ext cx="5582158" cy="3660521"/>
            </a:xfrm>
            <a:custGeom>
              <a:avLst/>
              <a:gdLst/>
              <a:ahLst/>
              <a:cxnLst/>
              <a:rect r="r" b="b" t="t" l="l"/>
              <a:pathLst>
                <a:path h="3660521" w="5582158">
                  <a:moveTo>
                    <a:pt x="0" y="0"/>
                  </a:moveTo>
                  <a:lnTo>
                    <a:pt x="5582158" y="0"/>
                  </a:lnTo>
                  <a:lnTo>
                    <a:pt x="5582158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92318" cy="3670681"/>
            </a:xfrm>
            <a:custGeom>
              <a:avLst/>
              <a:gdLst/>
              <a:ahLst/>
              <a:cxnLst/>
              <a:rect r="r" b="b" t="t" l="l"/>
              <a:pathLst>
                <a:path h="3670681" w="5592318">
                  <a:moveTo>
                    <a:pt x="5080" y="0"/>
                  </a:moveTo>
                  <a:lnTo>
                    <a:pt x="5587238" y="0"/>
                  </a:lnTo>
                  <a:cubicBezTo>
                    <a:pt x="5590032" y="0"/>
                    <a:pt x="5592318" y="2286"/>
                    <a:pt x="5592318" y="5080"/>
                  </a:cubicBezTo>
                  <a:lnTo>
                    <a:pt x="5592318" y="3665601"/>
                  </a:lnTo>
                  <a:cubicBezTo>
                    <a:pt x="5592318" y="3668395"/>
                    <a:pt x="5590032" y="3670681"/>
                    <a:pt x="5587238" y="3670681"/>
                  </a:cubicBezTo>
                  <a:lnTo>
                    <a:pt x="5080" y="3670681"/>
                  </a:lnTo>
                  <a:cubicBezTo>
                    <a:pt x="2286" y="3670681"/>
                    <a:pt x="0" y="3668395"/>
                    <a:pt x="0" y="3665601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3665601"/>
                  </a:lnTo>
                  <a:lnTo>
                    <a:pt x="5080" y="3665601"/>
                  </a:lnTo>
                  <a:lnTo>
                    <a:pt x="5080" y="3660521"/>
                  </a:lnTo>
                  <a:lnTo>
                    <a:pt x="5587238" y="3660521"/>
                  </a:lnTo>
                  <a:lnTo>
                    <a:pt x="5587238" y="3665601"/>
                  </a:lnTo>
                  <a:lnTo>
                    <a:pt x="5582158" y="3665601"/>
                  </a:lnTo>
                  <a:lnTo>
                    <a:pt x="5582158" y="5080"/>
                  </a:lnTo>
                  <a:lnTo>
                    <a:pt x="5587238" y="5080"/>
                  </a:lnTo>
                  <a:lnTo>
                    <a:pt x="558723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92235" y="6794725"/>
            <a:ext cx="3774853" cy="301990"/>
            <a:chOff x="0" y="0"/>
            <a:chExt cx="5033137" cy="4026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33137" cy="402590"/>
            </a:xfrm>
            <a:custGeom>
              <a:avLst/>
              <a:gdLst/>
              <a:ahLst/>
              <a:cxnLst/>
              <a:rect r="r" b="b" t="t" l="l"/>
              <a:pathLst>
                <a:path h="402590" w="5033137">
                  <a:moveTo>
                    <a:pt x="0" y="0"/>
                  </a:moveTo>
                  <a:lnTo>
                    <a:pt x="5033137" y="0"/>
                  </a:lnTo>
                  <a:lnTo>
                    <a:pt x="503313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92235" y="6794725"/>
            <a:ext cx="3774853" cy="301990"/>
            <a:chOff x="0" y="0"/>
            <a:chExt cx="5033137" cy="4026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33132" cy="402651"/>
            </a:xfrm>
            <a:custGeom>
              <a:avLst/>
              <a:gdLst/>
              <a:ahLst/>
              <a:cxnLst/>
              <a:rect r="r" b="b" t="t" l="l"/>
              <a:pathLst>
                <a:path h="402651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033137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450">
                  <a:solidFill>
                    <a:srgbClr val="F7F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FONCTIONNEL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37955" y="7218016"/>
            <a:ext cx="3683413" cy="812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501" b="true">
                <a:solidFill>
                  <a:srgbClr val="1414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DHT22 — TEMPÉRATURE &amp; HUMIDITÉ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7955" y="7993990"/>
            <a:ext cx="3683413" cy="12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42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Validé. Lectures cohérentes (24.3°C / 41% RH en salle). Branchement GPIO 4 + résistance pull-up 10kΩ.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941618" y="4392549"/>
            <a:ext cx="4186647" cy="2196274"/>
            <a:chOff x="0" y="0"/>
            <a:chExt cx="5582196" cy="29283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82158" cy="2928366"/>
            </a:xfrm>
            <a:custGeom>
              <a:avLst/>
              <a:gdLst/>
              <a:ahLst/>
              <a:cxnLst/>
              <a:rect r="r" b="b" t="t" l="l"/>
              <a:pathLst>
                <a:path h="2928366" w="5582158">
                  <a:moveTo>
                    <a:pt x="0" y="0"/>
                  </a:moveTo>
                  <a:lnTo>
                    <a:pt x="5582158" y="0"/>
                  </a:lnTo>
                  <a:lnTo>
                    <a:pt x="5582158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941618" y="4392549"/>
            <a:ext cx="4186647" cy="2196276"/>
            <a:chOff x="0" y="0"/>
            <a:chExt cx="5582196" cy="29283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82201" cy="2928370"/>
            </a:xfrm>
            <a:custGeom>
              <a:avLst/>
              <a:gdLst/>
              <a:ahLst/>
              <a:cxnLst/>
              <a:rect r="r" b="b" t="t" l="l"/>
              <a:pathLst>
                <a:path h="2928370" w="5582201">
                  <a:moveTo>
                    <a:pt x="0" y="0"/>
                  </a:moveTo>
                  <a:lnTo>
                    <a:pt x="5582201" y="0"/>
                  </a:lnTo>
                  <a:lnTo>
                    <a:pt x="5582201" y="2928370"/>
                  </a:lnTo>
                  <a:lnTo>
                    <a:pt x="0" y="29283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306" t="0" r="-1730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5582196" cy="295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spc="600">
                  <a:solidFill>
                    <a:srgbClr val="8E8B83"/>
                  </a:solidFill>
                  <a:latin typeface="Consolas"/>
                  <a:ea typeface="Consolas"/>
                  <a:cs typeface="Consolas"/>
                  <a:sym typeface="Consolas"/>
                </a:rPr>
                <a:t>[ PHOTO ]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937808" y="6585014"/>
            <a:ext cx="4194277" cy="2752973"/>
            <a:chOff x="0" y="0"/>
            <a:chExt cx="5592369" cy="36706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5080" y="5080"/>
              <a:ext cx="5582158" cy="3660521"/>
            </a:xfrm>
            <a:custGeom>
              <a:avLst/>
              <a:gdLst/>
              <a:ahLst/>
              <a:cxnLst/>
              <a:rect r="r" b="b" t="t" l="l"/>
              <a:pathLst>
                <a:path h="3660521" w="5582158">
                  <a:moveTo>
                    <a:pt x="0" y="0"/>
                  </a:moveTo>
                  <a:lnTo>
                    <a:pt x="5582158" y="0"/>
                  </a:lnTo>
                  <a:lnTo>
                    <a:pt x="5582158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592318" cy="3670681"/>
            </a:xfrm>
            <a:custGeom>
              <a:avLst/>
              <a:gdLst/>
              <a:ahLst/>
              <a:cxnLst/>
              <a:rect r="r" b="b" t="t" l="l"/>
              <a:pathLst>
                <a:path h="3670681" w="5592318">
                  <a:moveTo>
                    <a:pt x="5080" y="0"/>
                  </a:moveTo>
                  <a:lnTo>
                    <a:pt x="5587238" y="0"/>
                  </a:lnTo>
                  <a:cubicBezTo>
                    <a:pt x="5590032" y="0"/>
                    <a:pt x="5592318" y="2286"/>
                    <a:pt x="5592318" y="5080"/>
                  </a:cubicBezTo>
                  <a:lnTo>
                    <a:pt x="5592318" y="3665601"/>
                  </a:lnTo>
                  <a:cubicBezTo>
                    <a:pt x="5592318" y="3668395"/>
                    <a:pt x="5590032" y="3670681"/>
                    <a:pt x="5587238" y="3670681"/>
                  </a:cubicBezTo>
                  <a:lnTo>
                    <a:pt x="5080" y="3670681"/>
                  </a:lnTo>
                  <a:cubicBezTo>
                    <a:pt x="2286" y="3670681"/>
                    <a:pt x="0" y="3668395"/>
                    <a:pt x="0" y="3665601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3665601"/>
                  </a:lnTo>
                  <a:lnTo>
                    <a:pt x="5080" y="3665601"/>
                  </a:lnTo>
                  <a:lnTo>
                    <a:pt x="5080" y="3660521"/>
                  </a:lnTo>
                  <a:lnTo>
                    <a:pt x="5587238" y="3660521"/>
                  </a:lnTo>
                  <a:lnTo>
                    <a:pt x="5587238" y="3665601"/>
                  </a:lnTo>
                  <a:lnTo>
                    <a:pt x="5582158" y="3665601"/>
                  </a:lnTo>
                  <a:lnTo>
                    <a:pt x="5582158" y="5080"/>
                  </a:lnTo>
                  <a:lnTo>
                    <a:pt x="5587238" y="5080"/>
                  </a:lnTo>
                  <a:lnTo>
                    <a:pt x="558723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147520" y="6794725"/>
            <a:ext cx="3774853" cy="301990"/>
            <a:chOff x="0" y="0"/>
            <a:chExt cx="5033137" cy="4026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33137" cy="402590"/>
            </a:xfrm>
            <a:custGeom>
              <a:avLst/>
              <a:gdLst/>
              <a:ahLst/>
              <a:cxnLst/>
              <a:rect r="r" b="b" t="t" l="l"/>
              <a:pathLst>
                <a:path h="402590" w="5033137">
                  <a:moveTo>
                    <a:pt x="0" y="0"/>
                  </a:moveTo>
                  <a:lnTo>
                    <a:pt x="5033137" y="0"/>
                  </a:lnTo>
                  <a:lnTo>
                    <a:pt x="503313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147520" y="6794725"/>
            <a:ext cx="3774853" cy="301990"/>
            <a:chOff x="0" y="0"/>
            <a:chExt cx="5033137" cy="40265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33132" cy="402651"/>
            </a:xfrm>
            <a:custGeom>
              <a:avLst/>
              <a:gdLst/>
              <a:ahLst/>
              <a:cxnLst/>
              <a:rect r="r" b="b" t="t" l="l"/>
              <a:pathLst>
                <a:path h="402651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033137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450">
                  <a:solidFill>
                    <a:srgbClr val="F7F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FONCTIONNEL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5193240" y="7218016"/>
            <a:ext cx="3683413" cy="812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501" b="true">
                <a:solidFill>
                  <a:srgbClr val="1414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GPS NEO-6M — GÉOLOCALISATION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193240" y="7993990"/>
            <a:ext cx="3683413" cy="12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42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Validé en extérieur. Acquisition fix &lt; 30s, précision ~3m. Lecture NMEA via UART.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196902" y="4392549"/>
            <a:ext cx="4186647" cy="2196274"/>
            <a:chOff x="0" y="0"/>
            <a:chExt cx="5582196" cy="292836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82158" cy="2928366"/>
            </a:xfrm>
            <a:custGeom>
              <a:avLst/>
              <a:gdLst/>
              <a:ahLst/>
              <a:cxnLst/>
              <a:rect r="r" b="b" t="t" l="l"/>
              <a:pathLst>
                <a:path h="2928366" w="5582158">
                  <a:moveTo>
                    <a:pt x="0" y="0"/>
                  </a:moveTo>
                  <a:lnTo>
                    <a:pt x="5582158" y="0"/>
                  </a:lnTo>
                  <a:lnTo>
                    <a:pt x="5582158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196902" y="4392549"/>
            <a:ext cx="4186647" cy="2196274"/>
            <a:chOff x="0" y="0"/>
            <a:chExt cx="5582196" cy="292836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82201" cy="2928368"/>
            </a:xfrm>
            <a:custGeom>
              <a:avLst/>
              <a:gdLst/>
              <a:ahLst/>
              <a:cxnLst/>
              <a:rect r="r" b="b" t="t" l="l"/>
              <a:pathLst>
                <a:path h="2928368" w="5582201">
                  <a:moveTo>
                    <a:pt x="0" y="0"/>
                  </a:moveTo>
                  <a:lnTo>
                    <a:pt x="5582201" y="0"/>
                  </a:lnTo>
                  <a:lnTo>
                    <a:pt x="5582201" y="2928368"/>
                  </a:lnTo>
                  <a:lnTo>
                    <a:pt x="0" y="292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306" t="0" r="-17306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5582196" cy="29569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spc="600">
                  <a:solidFill>
                    <a:srgbClr val="8E8B83"/>
                  </a:solidFill>
                  <a:latin typeface="Consolas"/>
                  <a:ea typeface="Consolas"/>
                  <a:cs typeface="Consolas"/>
                  <a:sym typeface="Consolas"/>
                </a:rPr>
                <a:t>[ PHOTO ]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93092" y="6585014"/>
            <a:ext cx="4194277" cy="2752973"/>
            <a:chOff x="0" y="0"/>
            <a:chExt cx="5592369" cy="367063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5080" y="5080"/>
              <a:ext cx="5582158" cy="3660521"/>
            </a:xfrm>
            <a:custGeom>
              <a:avLst/>
              <a:gdLst/>
              <a:ahLst/>
              <a:cxnLst/>
              <a:rect r="r" b="b" t="t" l="l"/>
              <a:pathLst>
                <a:path h="3660521" w="5582158">
                  <a:moveTo>
                    <a:pt x="0" y="0"/>
                  </a:moveTo>
                  <a:lnTo>
                    <a:pt x="5582158" y="0"/>
                  </a:lnTo>
                  <a:lnTo>
                    <a:pt x="5582158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592318" cy="3670681"/>
            </a:xfrm>
            <a:custGeom>
              <a:avLst/>
              <a:gdLst/>
              <a:ahLst/>
              <a:cxnLst/>
              <a:rect r="r" b="b" t="t" l="l"/>
              <a:pathLst>
                <a:path h="3670681" w="5592318">
                  <a:moveTo>
                    <a:pt x="5080" y="0"/>
                  </a:moveTo>
                  <a:lnTo>
                    <a:pt x="5587238" y="0"/>
                  </a:lnTo>
                  <a:cubicBezTo>
                    <a:pt x="5590032" y="0"/>
                    <a:pt x="5592318" y="2286"/>
                    <a:pt x="5592318" y="5080"/>
                  </a:cubicBezTo>
                  <a:lnTo>
                    <a:pt x="5592318" y="3665601"/>
                  </a:lnTo>
                  <a:cubicBezTo>
                    <a:pt x="5592318" y="3668395"/>
                    <a:pt x="5590032" y="3670681"/>
                    <a:pt x="5587238" y="3670681"/>
                  </a:cubicBezTo>
                  <a:lnTo>
                    <a:pt x="5080" y="3670681"/>
                  </a:lnTo>
                  <a:cubicBezTo>
                    <a:pt x="2286" y="3670681"/>
                    <a:pt x="0" y="3668395"/>
                    <a:pt x="0" y="3665601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3665601"/>
                  </a:lnTo>
                  <a:lnTo>
                    <a:pt x="5080" y="3665601"/>
                  </a:lnTo>
                  <a:lnTo>
                    <a:pt x="5080" y="3660521"/>
                  </a:lnTo>
                  <a:lnTo>
                    <a:pt x="5587238" y="3660521"/>
                  </a:lnTo>
                  <a:lnTo>
                    <a:pt x="5587238" y="3665601"/>
                  </a:lnTo>
                  <a:lnTo>
                    <a:pt x="5582158" y="3665601"/>
                  </a:lnTo>
                  <a:lnTo>
                    <a:pt x="5582158" y="5080"/>
                  </a:lnTo>
                  <a:lnTo>
                    <a:pt x="5587238" y="5080"/>
                  </a:lnTo>
                  <a:lnTo>
                    <a:pt x="558723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402804" y="6794725"/>
            <a:ext cx="3774853" cy="301990"/>
            <a:chOff x="0" y="0"/>
            <a:chExt cx="5033137" cy="40265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33137" cy="402590"/>
            </a:xfrm>
            <a:custGeom>
              <a:avLst/>
              <a:gdLst/>
              <a:ahLst/>
              <a:cxnLst/>
              <a:rect r="r" b="b" t="t" l="l"/>
              <a:pathLst>
                <a:path h="402590" w="5033137">
                  <a:moveTo>
                    <a:pt x="0" y="0"/>
                  </a:moveTo>
                  <a:lnTo>
                    <a:pt x="5033137" y="0"/>
                  </a:lnTo>
                  <a:lnTo>
                    <a:pt x="503313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402804" y="6794725"/>
            <a:ext cx="3774853" cy="301990"/>
            <a:chOff x="0" y="0"/>
            <a:chExt cx="5033137" cy="40265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033132" cy="402651"/>
            </a:xfrm>
            <a:custGeom>
              <a:avLst/>
              <a:gdLst/>
              <a:ahLst/>
              <a:cxnLst/>
              <a:rect r="r" b="b" t="t" l="l"/>
              <a:pathLst>
                <a:path h="402651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033137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450">
                  <a:solidFill>
                    <a:srgbClr val="F7F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FONCTIONNEL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448524" y="7218016"/>
            <a:ext cx="3683413" cy="812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501" b="true">
                <a:solidFill>
                  <a:srgbClr val="1414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CONCEPTION 3D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448524" y="7993990"/>
            <a:ext cx="3683413" cy="12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42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Conception 3D du châssis achevée. Pièces imprimées avec succès. En attente des moteurs G25-370.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3452186" y="4392549"/>
            <a:ext cx="4186647" cy="2196274"/>
            <a:chOff x="0" y="0"/>
            <a:chExt cx="5582196" cy="292836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582158" cy="2928366"/>
            </a:xfrm>
            <a:custGeom>
              <a:avLst/>
              <a:gdLst/>
              <a:ahLst/>
              <a:cxnLst/>
              <a:rect r="r" b="b" t="t" l="l"/>
              <a:pathLst>
                <a:path h="2928366" w="5582158">
                  <a:moveTo>
                    <a:pt x="0" y="0"/>
                  </a:moveTo>
                  <a:lnTo>
                    <a:pt x="5582158" y="0"/>
                  </a:lnTo>
                  <a:lnTo>
                    <a:pt x="5582158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452186" y="4392549"/>
            <a:ext cx="4186647" cy="2196274"/>
            <a:chOff x="0" y="0"/>
            <a:chExt cx="5582196" cy="292836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582201" cy="2928368"/>
            </a:xfrm>
            <a:custGeom>
              <a:avLst/>
              <a:gdLst/>
              <a:ahLst/>
              <a:cxnLst/>
              <a:rect r="r" b="b" t="t" l="l"/>
              <a:pathLst>
                <a:path h="2928368" w="5582201">
                  <a:moveTo>
                    <a:pt x="0" y="0"/>
                  </a:moveTo>
                  <a:lnTo>
                    <a:pt x="5582201" y="0"/>
                  </a:lnTo>
                  <a:lnTo>
                    <a:pt x="5582201" y="2928368"/>
                  </a:lnTo>
                  <a:lnTo>
                    <a:pt x="0" y="292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306" t="0" r="-17306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5582196" cy="29569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spc="600">
                  <a:solidFill>
                    <a:srgbClr val="8E8B83"/>
                  </a:solidFill>
                  <a:latin typeface="Consolas"/>
                  <a:ea typeface="Consolas"/>
                  <a:cs typeface="Consolas"/>
                  <a:sym typeface="Consolas"/>
                </a:rPr>
                <a:t>[ PHOTO ]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448376" y="6585014"/>
            <a:ext cx="4194277" cy="2752973"/>
            <a:chOff x="0" y="0"/>
            <a:chExt cx="5592369" cy="367063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5080" y="5080"/>
              <a:ext cx="5582158" cy="3660521"/>
            </a:xfrm>
            <a:custGeom>
              <a:avLst/>
              <a:gdLst/>
              <a:ahLst/>
              <a:cxnLst/>
              <a:rect r="r" b="b" t="t" l="l"/>
              <a:pathLst>
                <a:path h="3660521" w="5582158">
                  <a:moveTo>
                    <a:pt x="0" y="0"/>
                  </a:moveTo>
                  <a:lnTo>
                    <a:pt x="5582158" y="0"/>
                  </a:lnTo>
                  <a:lnTo>
                    <a:pt x="5582158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592318" cy="3670681"/>
            </a:xfrm>
            <a:custGeom>
              <a:avLst/>
              <a:gdLst/>
              <a:ahLst/>
              <a:cxnLst/>
              <a:rect r="r" b="b" t="t" l="l"/>
              <a:pathLst>
                <a:path h="3670681" w="5592318">
                  <a:moveTo>
                    <a:pt x="5080" y="0"/>
                  </a:moveTo>
                  <a:lnTo>
                    <a:pt x="5587238" y="0"/>
                  </a:lnTo>
                  <a:cubicBezTo>
                    <a:pt x="5590032" y="0"/>
                    <a:pt x="5592318" y="2286"/>
                    <a:pt x="5592318" y="5080"/>
                  </a:cubicBezTo>
                  <a:lnTo>
                    <a:pt x="5592318" y="3665601"/>
                  </a:lnTo>
                  <a:cubicBezTo>
                    <a:pt x="5592318" y="3668395"/>
                    <a:pt x="5590032" y="3670681"/>
                    <a:pt x="5587238" y="3670681"/>
                  </a:cubicBezTo>
                  <a:lnTo>
                    <a:pt x="5080" y="3670681"/>
                  </a:lnTo>
                  <a:cubicBezTo>
                    <a:pt x="2286" y="3670681"/>
                    <a:pt x="0" y="3668395"/>
                    <a:pt x="0" y="3665601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3665601"/>
                  </a:lnTo>
                  <a:lnTo>
                    <a:pt x="5080" y="3665601"/>
                  </a:lnTo>
                  <a:lnTo>
                    <a:pt x="5080" y="3660521"/>
                  </a:lnTo>
                  <a:lnTo>
                    <a:pt x="5587238" y="3660521"/>
                  </a:lnTo>
                  <a:lnTo>
                    <a:pt x="5587238" y="3665601"/>
                  </a:lnTo>
                  <a:lnTo>
                    <a:pt x="5582158" y="3665601"/>
                  </a:lnTo>
                  <a:lnTo>
                    <a:pt x="5582158" y="5080"/>
                  </a:lnTo>
                  <a:lnTo>
                    <a:pt x="5587238" y="5080"/>
                  </a:lnTo>
                  <a:lnTo>
                    <a:pt x="5587238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658088" y="6794725"/>
            <a:ext cx="3774853" cy="301990"/>
            <a:chOff x="0" y="0"/>
            <a:chExt cx="5033137" cy="40265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033137" cy="402590"/>
            </a:xfrm>
            <a:custGeom>
              <a:avLst/>
              <a:gdLst/>
              <a:ahLst/>
              <a:cxnLst/>
              <a:rect r="r" b="b" t="t" l="l"/>
              <a:pathLst>
                <a:path h="402590" w="5033137">
                  <a:moveTo>
                    <a:pt x="0" y="0"/>
                  </a:moveTo>
                  <a:lnTo>
                    <a:pt x="5033137" y="0"/>
                  </a:lnTo>
                  <a:lnTo>
                    <a:pt x="503313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658088" y="6794725"/>
            <a:ext cx="3774853" cy="301990"/>
            <a:chOff x="0" y="0"/>
            <a:chExt cx="5033137" cy="40265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033132" cy="402651"/>
            </a:xfrm>
            <a:custGeom>
              <a:avLst/>
              <a:gdLst/>
              <a:ahLst/>
              <a:cxnLst/>
              <a:rect r="r" b="b" t="t" l="l"/>
              <a:pathLst>
                <a:path h="402651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5033137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450">
                  <a:solidFill>
                    <a:srgbClr val="F7F3E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ASSEMBLÉ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3703808" y="7218016"/>
            <a:ext cx="3683413" cy="812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501" b="true">
                <a:solidFill>
                  <a:srgbClr val="1414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CIRCUIT &amp; PERFBOARD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703808" y="7993990"/>
            <a:ext cx="3683413" cy="12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42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Design Fritzing complet. Connexions mappées. Préparation d'une conception sur perfboard pour améliorer la fiabilité.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32053" y="9346778"/>
            <a:ext cx="16792432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8E8B8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→ NOTE : Insérez vos vraies photos en double-cliquant sur les cadres noirs.</a:t>
            </a:r>
          </a:p>
        </p:txBody>
      </p:sp>
      <p:sp>
        <p:nvSpPr>
          <p:cNvPr name="AutoShape 74" id="74"/>
          <p:cNvSpPr/>
          <p:nvPr/>
        </p:nvSpPr>
        <p:spPr>
          <a:xfrm rot="1920">
            <a:off x="681571" y="9672580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5" id="75"/>
          <p:cNvSpPr txBox="true"/>
          <p:nvPr/>
        </p:nvSpPr>
        <p:spPr>
          <a:xfrm rot="0">
            <a:off x="732053" y="9758582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ÉCOLE CENTRALE CASABLANCA — LEARNING BY DOING — GROUPE 7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340759" y="9758582"/>
            <a:ext cx="7224903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b="true" sz="1200" spc="300">
                <a:solidFill>
                  <a:srgbClr val="141414"/>
                </a:solidFill>
                <a:latin typeface="Consolas Bold"/>
                <a:ea typeface="Consolas Bold"/>
                <a:cs typeface="Consolas Bold"/>
                <a:sym typeface="Consolas Bold"/>
              </a:rPr>
              <a:t>P. 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053" y="383229"/>
            <a:ext cx="5399246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053" y="754971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86112" y="383229"/>
            <a:ext cx="4850178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450">
                <a:solidFill>
                  <a:srgbClr val="D44A1A"/>
                </a:solidFill>
                <a:latin typeface="Consolas"/>
                <a:ea typeface="Consolas"/>
                <a:cs typeface="Consolas"/>
                <a:sym typeface="Consolas"/>
              </a:rPr>
              <a:t>HARDWARE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754971"/>
            <a:ext cx="4850178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b="true" sz="1651" spc="45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P. 08 / 14</a:t>
            </a:r>
          </a:p>
        </p:txBody>
      </p:sp>
      <p:sp>
        <p:nvSpPr>
          <p:cNvPr name="AutoShape 8" id="8"/>
          <p:cNvSpPr/>
          <p:nvPr/>
        </p:nvSpPr>
        <p:spPr>
          <a:xfrm rot="1920">
            <a:off x="681571" y="1299277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32053" y="1637681"/>
            <a:ext cx="1830305" cy="117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7"/>
              </a:lnSpc>
            </a:pPr>
            <a:r>
              <a:rPr lang="en-US" sz="7806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259" y="1883645"/>
            <a:ext cx="539924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ARCHITECTURE MATÉRIELLE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9259" y="2324014"/>
            <a:ext cx="15007952" cy="138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Une seule Raspberry Pi 4.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79259" y="3336427"/>
            <a:ext cx="15007952" cy="78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1951" i="true">
                <a:solidFill>
                  <a:srgbClr val="333333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Pas de microcontrôleur secondaire. Tout passe par I²C, UART ou GPIO direct.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892863" y="6039755"/>
            <a:ext cx="2470814" cy="1235402"/>
            <a:chOff x="0" y="0"/>
            <a:chExt cx="3294418" cy="16472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94380" cy="1647190"/>
            </a:xfrm>
            <a:custGeom>
              <a:avLst/>
              <a:gdLst/>
              <a:ahLst/>
              <a:cxnLst/>
              <a:rect r="r" b="b" t="t" l="l"/>
              <a:pathLst>
                <a:path h="1647190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892863" y="6177020"/>
            <a:ext cx="2470814" cy="411804"/>
            <a:chOff x="0" y="0"/>
            <a:chExt cx="3294418" cy="5490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94414" cy="549069"/>
            </a:xfrm>
            <a:custGeom>
              <a:avLst/>
              <a:gdLst/>
              <a:ahLst/>
              <a:cxnLst/>
              <a:rect r="r" b="b" t="t" l="l"/>
              <a:pathLst>
                <a:path h="549069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294418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7F3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RASPBERRY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92863" y="6657461"/>
            <a:ext cx="2470814" cy="549069"/>
            <a:chOff x="0" y="0"/>
            <a:chExt cx="3294418" cy="7320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29441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D44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PI 4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27007" y="4103713"/>
            <a:ext cx="3597545" cy="1332633"/>
            <a:chOff x="0" y="0"/>
            <a:chExt cx="4796726" cy="17768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9050" y="19050"/>
              <a:ext cx="4758563" cy="1738757"/>
            </a:xfrm>
            <a:custGeom>
              <a:avLst/>
              <a:gdLst/>
              <a:ahLst/>
              <a:cxnLst/>
              <a:rect r="r" b="b" t="t" l="l"/>
              <a:pathLst>
                <a:path h="1738757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1738757"/>
                  </a:lnTo>
                  <a:lnTo>
                    <a:pt x="0" y="1738757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96663" cy="1776857"/>
            </a:xfrm>
            <a:custGeom>
              <a:avLst/>
              <a:gdLst/>
              <a:ahLst/>
              <a:cxnLst/>
              <a:rect r="r" b="b" t="t" l="l"/>
              <a:pathLst>
                <a:path h="1776857" w="4796663">
                  <a:moveTo>
                    <a:pt x="19050" y="0"/>
                  </a:moveTo>
                  <a:lnTo>
                    <a:pt x="4777613" y="0"/>
                  </a:lnTo>
                  <a:cubicBezTo>
                    <a:pt x="4788154" y="0"/>
                    <a:pt x="4796663" y="8509"/>
                    <a:pt x="4796663" y="19050"/>
                  </a:cubicBezTo>
                  <a:lnTo>
                    <a:pt x="4796663" y="1757807"/>
                  </a:lnTo>
                  <a:cubicBezTo>
                    <a:pt x="4796663" y="1768348"/>
                    <a:pt x="4788154" y="1776857"/>
                    <a:pt x="4777613" y="1776857"/>
                  </a:cubicBezTo>
                  <a:lnTo>
                    <a:pt x="19050" y="1776857"/>
                  </a:lnTo>
                  <a:cubicBezTo>
                    <a:pt x="8509" y="1776857"/>
                    <a:pt x="0" y="1768348"/>
                    <a:pt x="0" y="175780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757807"/>
                  </a:lnTo>
                  <a:lnTo>
                    <a:pt x="19050" y="1757807"/>
                  </a:lnTo>
                  <a:lnTo>
                    <a:pt x="19050" y="1738757"/>
                  </a:lnTo>
                  <a:lnTo>
                    <a:pt x="4777613" y="1738757"/>
                  </a:lnTo>
                  <a:lnTo>
                    <a:pt x="4777613" y="1757807"/>
                  </a:lnTo>
                  <a:lnTo>
                    <a:pt x="4758563" y="1757807"/>
                  </a:lnTo>
                  <a:lnTo>
                    <a:pt x="4758563" y="19050"/>
                  </a:lnTo>
                  <a:lnTo>
                    <a:pt x="4777613" y="19050"/>
                  </a:lnTo>
                  <a:lnTo>
                    <a:pt x="4777613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41304" y="4118019"/>
            <a:ext cx="3568951" cy="82363"/>
            <a:chOff x="0" y="0"/>
            <a:chExt cx="4758601" cy="1098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58563" cy="109855"/>
            </a:xfrm>
            <a:custGeom>
              <a:avLst/>
              <a:gdLst/>
              <a:ahLst/>
              <a:cxnLst/>
              <a:rect r="r" b="b" t="t" l="l"/>
              <a:pathLst>
                <a:path h="109855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692926" y="4314387"/>
            <a:ext cx="30657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b="true" sz="2151" spc="391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BUS I²C</a:t>
            </a:r>
          </a:p>
        </p:txBody>
      </p:sp>
      <p:sp>
        <p:nvSpPr>
          <p:cNvPr name="AutoShape 27" id="27"/>
          <p:cNvSpPr/>
          <p:nvPr/>
        </p:nvSpPr>
        <p:spPr>
          <a:xfrm rot="-9065940">
            <a:off x="4788875" y="5549798"/>
            <a:ext cx="3325378" cy="0"/>
          </a:xfrm>
          <a:prstGeom prst="line">
            <a:avLst/>
          </a:prstGeom>
          <a:ln cap="rnd" w="19050">
            <a:solidFill>
              <a:srgbClr val="D44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231987" y="4103713"/>
            <a:ext cx="3597545" cy="1332633"/>
            <a:chOff x="0" y="0"/>
            <a:chExt cx="4796726" cy="17768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4758563" cy="1738757"/>
            </a:xfrm>
            <a:custGeom>
              <a:avLst/>
              <a:gdLst/>
              <a:ahLst/>
              <a:cxnLst/>
              <a:rect r="r" b="b" t="t" l="l"/>
              <a:pathLst>
                <a:path h="1738757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1738757"/>
                  </a:lnTo>
                  <a:lnTo>
                    <a:pt x="0" y="1738757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96663" cy="1776857"/>
            </a:xfrm>
            <a:custGeom>
              <a:avLst/>
              <a:gdLst/>
              <a:ahLst/>
              <a:cxnLst/>
              <a:rect r="r" b="b" t="t" l="l"/>
              <a:pathLst>
                <a:path h="1776857" w="4796663">
                  <a:moveTo>
                    <a:pt x="19050" y="0"/>
                  </a:moveTo>
                  <a:lnTo>
                    <a:pt x="4777613" y="0"/>
                  </a:lnTo>
                  <a:cubicBezTo>
                    <a:pt x="4788154" y="0"/>
                    <a:pt x="4796663" y="8509"/>
                    <a:pt x="4796663" y="19050"/>
                  </a:cubicBezTo>
                  <a:lnTo>
                    <a:pt x="4796663" y="1757807"/>
                  </a:lnTo>
                  <a:cubicBezTo>
                    <a:pt x="4796663" y="1768348"/>
                    <a:pt x="4788154" y="1776857"/>
                    <a:pt x="4777613" y="1776857"/>
                  </a:cubicBezTo>
                  <a:lnTo>
                    <a:pt x="19050" y="1776857"/>
                  </a:lnTo>
                  <a:cubicBezTo>
                    <a:pt x="8509" y="1776857"/>
                    <a:pt x="0" y="1768348"/>
                    <a:pt x="0" y="175780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757807"/>
                  </a:lnTo>
                  <a:lnTo>
                    <a:pt x="19050" y="1757807"/>
                  </a:lnTo>
                  <a:lnTo>
                    <a:pt x="19050" y="1738757"/>
                  </a:lnTo>
                  <a:lnTo>
                    <a:pt x="4777613" y="1738757"/>
                  </a:lnTo>
                  <a:lnTo>
                    <a:pt x="4777613" y="1757807"/>
                  </a:lnTo>
                  <a:lnTo>
                    <a:pt x="4758563" y="1757807"/>
                  </a:lnTo>
                  <a:lnTo>
                    <a:pt x="4758563" y="19050"/>
                  </a:lnTo>
                  <a:lnTo>
                    <a:pt x="4777613" y="19050"/>
                  </a:lnTo>
                  <a:lnTo>
                    <a:pt x="4777613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A8422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46284" y="4118019"/>
            <a:ext cx="3568951" cy="82363"/>
            <a:chOff x="0" y="0"/>
            <a:chExt cx="4758601" cy="1098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58563" cy="109855"/>
            </a:xfrm>
            <a:custGeom>
              <a:avLst/>
              <a:gdLst/>
              <a:ahLst/>
              <a:cxnLst/>
              <a:rect r="r" b="b" t="t" l="l"/>
              <a:pathLst>
                <a:path h="109855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A84229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3497906" y="4323912"/>
            <a:ext cx="3065707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300">
                <a:solidFill>
                  <a:srgbClr val="A84229"/>
                </a:solidFill>
                <a:latin typeface="Georgia Bold"/>
                <a:ea typeface="Georgia Bold"/>
                <a:cs typeface="Georgia Bold"/>
                <a:sym typeface="Georgia Bold"/>
              </a:rPr>
              <a:t>UART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97906" y="4747203"/>
            <a:ext cx="3065707" cy="60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3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GPS NEO-6M (NMEA)</a:t>
            </a:r>
          </a:p>
        </p:txBody>
      </p:sp>
      <p:sp>
        <p:nvSpPr>
          <p:cNvPr name="AutoShape 35" id="35"/>
          <p:cNvSpPr/>
          <p:nvPr/>
        </p:nvSpPr>
        <p:spPr>
          <a:xfrm rot="-1734060">
            <a:off x="10142296" y="5549798"/>
            <a:ext cx="3325378" cy="0"/>
          </a:xfrm>
          <a:prstGeom prst="line">
            <a:avLst/>
          </a:prstGeom>
          <a:ln cap="rnd" w="19050">
            <a:solidFill>
              <a:srgbClr val="A842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427007" y="7947203"/>
            <a:ext cx="3597545" cy="1332633"/>
            <a:chOff x="0" y="0"/>
            <a:chExt cx="4796726" cy="17768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9050" y="19050"/>
              <a:ext cx="4758563" cy="1738757"/>
            </a:xfrm>
            <a:custGeom>
              <a:avLst/>
              <a:gdLst/>
              <a:ahLst/>
              <a:cxnLst/>
              <a:rect r="r" b="b" t="t" l="l"/>
              <a:pathLst>
                <a:path h="1738757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1738757"/>
                  </a:lnTo>
                  <a:lnTo>
                    <a:pt x="0" y="1738757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96663" cy="1776857"/>
            </a:xfrm>
            <a:custGeom>
              <a:avLst/>
              <a:gdLst/>
              <a:ahLst/>
              <a:cxnLst/>
              <a:rect r="r" b="b" t="t" l="l"/>
              <a:pathLst>
                <a:path h="1776857" w="4796663">
                  <a:moveTo>
                    <a:pt x="19050" y="0"/>
                  </a:moveTo>
                  <a:lnTo>
                    <a:pt x="4777613" y="0"/>
                  </a:lnTo>
                  <a:cubicBezTo>
                    <a:pt x="4788154" y="0"/>
                    <a:pt x="4796663" y="8509"/>
                    <a:pt x="4796663" y="19050"/>
                  </a:cubicBezTo>
                  <a:lnTo>
                    <a:pt x="4796663" y="1757807"/>
                  </a:lnTo>
                  <a:cubicBezTo>
                    <a:pt x="4796663" y="1768348"/>
                    <a:pt x="4788154" y="1776857"/>
                    <a:pt x="4777613" y="1776857"/>
                  </a:cubicBezTo>
                  <a:lnTo>
                    <a:pt x="19050" y="1776857"/>
                  </a:lnTo>
                  <a:cubicBezTo>
                    <a:pt x="8509" y="1776857"/>
                    <a:pt x="0" y="1768348"/>
                    <a:pt x="0" y="175780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757807"/>
                  </a:lnTo>
                  <a:lnTo>
                    <a:pt x="19050" y="1757807"/>
                  </a:lnTo>
                  <a:lnTo>
                    <a:pt x="19050" y="1738757"/>
                  </a:lnTo>
                  <a:lnTo>
                    <a:pt x="4777613" y="1738757"/>
                  </a:lnTo>
                  <a:lnTo>
                    <a:pt x="4777613" y="1757807"/>
                  </a:lnTo>
                  <a:lnTo>
                    <a:pt x="4758563" y="1757807"/>
                  </a:lnTo>
                  <a:lnTo>
                    <a:pt x="4758563" y="19050"/>
                  </a:lnTo>
                  <a:lnTo>
                    <a:pt x="4777613" y="19050"/>
                  </a:lnTo>
                  <a:lnTo>
                    <a:pt x="4777613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E351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41304" y="7961500"/>
            <a:ext cx="3568951" cy="82363"/>
            <a:chOff x="0" y="0"/>
            <a:chExt cx="4758601" cy="10981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58563" cy="109855"/>
            </a:xfrm>
            <a:custGeom>
              <a:avLst/>
              <a:gdLst/>
              <a:ahLst/>
              <a:cxnLst/>
              <a:rect r="r" b="b" t="t" l="l"/>
              <a:pathLst>
                <a:path h="109855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9E351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692926" y="8167402"/>
            <a:ext cx="3065707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300">
                <a:solidFill>
                  <a:srgbClr val="9E3510"/>
                </a:solidFill>
                <a:latin typeface="Georgia Bold"/>
                <a:ea typeface="Georgia Bold"/>
                <a:cs typeface="Georgia Bold"/>
                <a:sym typeface="Georgia Bold"/>
              </a:rPr>
              <a:t>GPIO direct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92926" y="8590683"/>
            <a:ext cx="3065707" cy="60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3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DHT22 · sondes capacitives</a:t>
            </a:r>
          </a:p>
        </p:txBody>
      </p:sp>
      <p:sp>
        <p:nvSpPr>
          <p:cNvPr name="AutoShape 43" id="43"/>
          <p:cNvSpPr/>
          <p:nvPr/>
        </p:nvSpPr>
        <p:spPr>
          <a:xfrm rot="9004440">
            <a:off x="4772015" y="7780391"/>
            <a:ext cx="3359086" cy="0"/>
          </a:xfrm>
          <a:prstGeom prst="line">
            <a:avLst/>
          </a:prstGeom>
          <a:ln cap="rnd" w="19050">
            <a:solidFill>
              <a:srgbClr val="9E35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3231987" y="7947203"/>
            <a:ext cx="3597545" cy="1332633"/>
            <a:chOff x="0" y="0"/>
            <a:chExt cx="4796726" cy="17768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9050" y="19050"/>
              <a:ext cx="4758563" cy="1738757"/>
            </a:xfrm>
            <a:custGeom>
              <a:avLst/>
              <a:gdLst/>
              <a:ahLst/>
              <a:cxnLst/>
              <a:rect r="r" b="b" t="t" l="l"/>
              <a:pathLst>
                <a:path h="1738757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1738757"/>
                  </a:lnTo>
                  <a:lnTo>
                    <a:pt x="0" y="1738757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96663" cy="1776857"/>
            </a:xfrm>
            <a:custGeom>
              <a:avLst/>
              <a:gdLst/>
              <a:ahLst/>
              <a:cxnLst/>
              <a:rect r="r" b="b" t="t" l="l"/>
              <a:pathLst>
                <a:path h="1776857" w="4796663">
                  <a:moveTo>
                    <a:pt x="19050" y="0"/>
                  </a:moveTo>
                  <a:lnTo>
                    <a:pt x="4777613" y="0"/>
                  </a:lnTo>
                  <a:cubicBezTo>
                    <a:pt x="4788154" y="0"/>
                    <a:pt x="4796663" y="8509"/>
                    <a:pt x="4796663" y="19050"/>
                  </a:cubicBezTo>
                  <a:lnTo>
                    <a:pt x="4796663" y="1757807"/>
                  </a:lnTo>
                  <a:cubicBezTo>
                    <a:pt x="4796663" y="1768348"/>
                    <a:pt x="4788154" y="1776857"/>
                    <a:pt x="4777613" y="1776857"/>
                  </a:cubicBezTo>
                  <a:lnTo>
                    <a:pt x="19050" y="1776857"/>
                  </a:lnTo>
                  <a:cubicBezTo>
                    <a:pt x="8509" y="1776857"/>
                    <a:pt x="0" y="1768348"/>
                    <a:pt x="0" y="175780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757807"/>
                  </a:lnTo>
                  <a:lnTo>
                    <a:pt x="19050" y="1757807"/>
                  </a:lnTo>
                  <a:lnTo>
                    <a:pt x="19050" y="1738757"/>
                  </a:lnTo>
                  <a:lnTo>
                    <a:pt x="4777613" y="1738757"/>
                  </a:lnTo>
                  <a:lnTo>
                    <a:pt x="4777613" y="1757807"/>
                  </a:lnTo>
                  <a:lnTo>
                    <a:pt x="4758563" y="1757807"/>
                  </a:lnTo>
                  <a:lnTo>
                    <a:pt x="4758563" y="19050"/>
                  </a:lnTo>
                  <a:lnTo>
                    <a:pt x="4777613" y="19050"/>
                  </a:lnTo>
                  <a:lnTo>
                    <a:pt x="4777613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99A3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246284" y="7961500"/>
            <a:ext cx="3568951" cy="82363"/>
            <a:chOff x="0" y="0"/>
            <a:chExt cx="4758601" cy="10981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58563" cy="109855"/>
            </a:xfrm>
            <a:custGeom>
              <a:avLst/>
              <a:gdLst/>
              <a:ahLst/>
              <a:cxnLst/>
              <a:rect r="r" b="b" t="t" l="l"/>
              <a:pathLst>
                <a:path h="109855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C99A3F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3497906" y="8167402"/>
            <a:ext cx="3065707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300">
                <a:solidFill>
                  <a:srgbClr val="C99A3F"/>
                </a:solidFill>
                <a:latin typeface="Georgia Bold"/>
                <a:ea typeface="Georgia Bold"/>
                <a:cs typeface="Georgia Bold"/>
                <a:sym typeface="Georgia Bold"/>
              </a:rPr>
              <a:t>PWM moteurs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497906" y="8590683"/>
            <a:ext cx="3065707" cy="60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3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L298N ×3 → 6 moteurs DC</a:t>
            </a:r>
          </a:p>
        </p:txBody>
      </p:sp>
      <p:sp>
        <p:nvSpPr>
          <p:cNvPr name="AutoShape 51" id="51"/>
          <p:cNvSpPr/>
          <p:nvPr/>
        </p:nvSpPr>
        <p:spPr>
          <a:xfrm rot="1795560">
            <a:off x="10125437" y="7780391"/>
            <a:ext cx="3359086" cy="0"/>
          </a:xfrm>
          <a:prstGeom prst="line">
            <a:avLst/>
          </a:prstGeom>
          <a:ln cap="rnd" w="19050">
            <a:solidFill>
              <a:srgbClr val="C99A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2" id="52"/>
          <p:cNvSpPr txBox="true"/>
          <p:nvPr/>
        </p:nvSpPr>
        <p:spPr>
          <a:xfrm rot="0">
            <a:off x="732053" y="9021537"/>
            <a:ext cx="16792432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>
                <a:solidFill>
                  <a:srgbClr val="8E8B8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Bus I²C : 4 fils communs · UART : 2 fils série · GPIO : 1 fil par capteur · PWM : pont en H pour moteurs.</a:t>
            </a:r>
          </a:p>
        </p:txBody>
      </p:sp>
      <p:sp>
        <p:nvSpPr>
          <p:cNvPr name="AutoShape 53" id="53"/>
          <p:cNvSpPr/>
          <p:nvPr/>
        </p:nvSpPr>
        <p:spPr>
          <a:xfrm rot="1920">
            <a:off x="681571" y="9672580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732053" y="9758582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ÉCOLE CENTRALE CASABLANCA — LEARNING BY DOING — GROUPE 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340759" y="9758582"/>
            <a:ext cx="7224903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b="true" sz="1200" spc="300">
                <a:solidFill>
                  <a:srgbClr val="141414"/>
                </a:solidFill>
                <a:latin typeface="Consolas Bold"/>
                <a:ea typeface="Consolas Bold"/>
                <a:cs typeface="Consolas Bold"/>
                <a:sym typeface="Consolas Bold"/>
              </a:rPr>
              <a:t>P. 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053" y="383229"/>
            <a:ext cx="5399246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053" y="754971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86112" y="383229"/>
            <a:ext cx="4850178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450">
                <a:solidFill>
                  <a:srgbClr val="D44A1A"/>
                </a:solidFill>
                <a:latin typeface="Consolas"/>
                <a:ea typeface="Consolas"/>
                <a:cs typeface="Consolas"/>
                <a:sym typeface="Consolas"/>
              </a:rPr>
              <a:t>LOGICIEL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754971"/>
            <a:ext cx="4850178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b="true" sz="1651" spc="45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P. 09 / 14</a:t>
            </a:r>
          </a:p>
        </p:txBody>
      </p:sp>
      <p:sp>
        <p:nvSpPr>
          <p:cNvPr name="AutoShape 8" id="8"/>
          <p:cNvSpPr/>
          <p:nvPr/>
        </p:nvSpPr>
        <p:spPr>
          <a:xfrm rot="1920">
            <a:off x="681571" y="1299277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32053" y="1637681"/>
            <a:ext cx="1830305" cy="117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7"/>
              </a:lnSpc>
            </a:pPr>
            <a:r>
              <a:rPr lang="en-US" sz="7806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259" y="1883645"/>
            <a:ext cx="539924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DÉMONSTRATION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9259" y="2324014"/>
            <a:ext cx="15007952" cy="138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La plateforme web BurnTrack.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79259" y="3336427"/>
            <a:ext cx="15007952" cy="78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1951" i="true">
                <a:solidFill>
                  <a:srgbClr val="333333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Application Flask · Cartographie Leaflet · Simulation Rothermel temps réel.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6333" y="4667088"/>
            <a:ext cx="16883872" cy="4529823"/>
            <a:chOff x="0" y="0"/>
            <a:chExt cx="22511830" cy="60397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11765" cy="6039739"/>
            </a:xfrm>
            <a:custGeom>
              <a:avLst/>
              <a:gdLst/>
              <a:ahLst/>
              <a:cxnLst/>
              <a:rect r="r" b="b" t="t" l="l"/>
              <a:pathLst>
                <a:path h="6039739" w="22511765">
                  <a:moveTo>
                    <a:pt x="0" y="0"/>
                  </a:moveTo>
                  <a:lnTo>
                    <a:pt x="22511765" y="0"/>
                  </a:lnTo>
                  <a:lnTo>
                    <a:pt x="22511765" y="6039739"/>
                  </a:lnTo>
                  <a:lnTo>
                    <a:pt x="0" y="6039739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6333" y="4667088"/>
            <a:ext cx="16883872" cy="549069"/>
            <a:chOff x="0" y="0"/>
            <a:chExt cx="22511830" cy="732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511765" cy="732155"/>
            </a:xfrm>
            <a:custGeom>
              <a:avLst/>
              <a:gdLst/>
              <a:ahLst/>
              <a:cxnLst/>
              <a:rect r="r" b="b" t="t" l="l"/>
              <a:pathLst>
                <a:path h="732155" w="22511765">
                  <a:moveTo>
                    <a:pt x="0" y="0"/>
                  </a:moveTo>
                  <a:lnTo>
                    <a:pt x="22511765" y="0"/>
                  </a:lnTo>
                  <a:lnTo>
                    <a:pt x="22511765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92235" y="4845529"/>
            <a:ext cx="178451" cy="178451"/>
            <a:chOff x="0" y="0"/>
            <a:chExt cx="237934" cy="2379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7871" cy="237871"/>
            </a:xfrm>
            <a:custGeom>
              <a:avLst/>
              <a:gdLst/>
              <a:ahLst/>
              <a:cxnLst/>
              <a:rect r="r" b="b" t="t" l="l"/>
              <a:pathLst>
                <a:path h="237871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37871"/>
                  </a:lnTo>
                  <a:lnTo>
                    <a:pt x="0" y="23787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81122" y="4744126"/>
            <a:ext cx="2104834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450">
                <a:solidFill>
                  <a:srgbClr val="F7F3EC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14671" y="4775778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ZONE: Talassemtane · 35.171°N -5.270°W · MAJ: 14:23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511196" y="4845529"/>
            <a:ext cx="178451" cy="178451"/>
            <a:chOff x="0" y="0"/>
            <a:chExt cx="237934" cy="2379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7871" cy="237871"/>
            </a:xfrm>
            <a:custGeom>
              <a:avLst/>
              <a:gdLst/>
              <a:ahLst/>
              <a:cxnLst/>
              <a:rect r="r" b="b" t="t" l="l"/>
              <a:pathLst>
                <a:path h="237871" w="237871">
                  <a:moveTo>
                    <a:pt x="0" y="0"/>
                  </a:moveTo>
                  <a:lnTo>
                    <a:pt x="237871" y="0"/>
                  </a:lnTo>
                  <a:lnTo>
                    <a:pt x="237871" y="237871"/>
                  </a:lnTo>
                  <a:lnTo>
                    <a:pt x="0" y="23787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831455" y="4775778"/>
            <a:ext cx="1830305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b="true" sz="1200" spc="300">
                <a:solidFill>
                  <a:srgbClr val="3D5C37"/>
                </a:solidFill>
                <a:latin typeface="Consolas Bold"/>
                <a:ea typeface="Consolas Bold"/>
                <a:cs typeface="Consolas Bold"/>
                <a:sym typeface="Consolas Bold"/>
              </a:rPr>
              <a:t>OPÉRATIONNEL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8836" y="5348659"/>
            <a:ext cx="10441838" cy="3715750"/>
            <a:chOff x="0" y="0"/>
            <a:chExt cx="13922451" cy="49543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13909802" cy="4941570"/>
            </a:xfrm>
            <a:custGeom>
              <a:avLst/>
              <a:gdLst/>
              <a:ahLst/>
              <a:cxnLst/>
              <a:rect r="r" b="b" t="t" l="l"/>
              <a:pathLst>
                <a:path h="4941570" w="13909802">
                  <a:moveTo>
                    <a:pt x="0" y="0"/>
                  </a:moveTo>
                  <a:lnTo>
                    <a:pt x="13909802" y="0"/>
                  </a:lnTo>
                  <a:lnTo>
                    <a:pt x="13909802" y="4941570"/>
                  </a:lnTo>
                  <a:lnTo>
                    <a:pt x="0" y="4941570"/>
                  </a:lnTo>
                  <a:close/>
                </a:path>
              </a:pathLst>
            </a:custGeom>
            <a:solidFill>
              <a:srgbClr val="0A0A0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922502" cy="4954270"/>
            </a:xfrm>
            <a:custGeom>
              <a:avLst/>
              <a:gdLst/>
              <a:ahLst/>
              <a:cxnLst/>
              <a:rect r="r" b="b" t="t" l="l"/>
              <a:pathLst>
                <a:path h="4954270" w="13922502">
                  <a:moveTo>
                    <a:pt x="6350" y="0"/>
                  </a:moveTo>
                  <a:lnTo>
                    <a:pt x="13916152" y="0"/>
                  </a:lnTo>
                  <a:cubicBezTo>
                    <a:pt x="13919708" y="0"/>
                    <a:pt x="13922502" y="2794"/>
                    <a:pt x="13922502" y="6350"/>
                  </a:cubicBezTo>
                  <a:lnTo>
                    <a:pt x="13922502" y="4947920"/>
                  </a:lnTo>
                  <a:cubicBezTo>
                    <a:pt x="13922502" y="4951476"/>
                    <a:pt x="13919708" y="4954270"/>
                    <a:pt x="13916152" y="4954270"/>
                  </a:cubicBezTo>
                  <a:lnTo>
                    <a:pt x="6350" y="4954270"/>
                  </a:lnTo>
                  <a:cubicBezTo>
                    <a:pt x="2794" y="4954270"/>
                    <a:pt x="0" y="4951476"/>
                    <a:pt x="0" y="494792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947920"/>
                  </a:lnTo>
                  <a:lnTo>
                    <a:pt x="6350" y="4947920"/>
                  </a:lnTo>
                  <a:lnTo>
                    <a:pt x="6350" y="4941570"/>
                  </a:lnTo>
                  <a:lnTo>
                    <a:pt x="13916152" y="4941570"/>
                  </a:lnTo>
                  <a:lnTo>
                    <a:pt x="13916152" y="4947920"/>
                  </a:lnTo>
                  <a:lnTo>
                    <a:pt x="13909802" y="4947920"/>
                  </a:lnTo>
                  <a:lnTo>
                    <a:pt x="13909802" y="6350"/>
                  </a:lnTo>
                  <a:lnTo>
                    <a:pt x="13916152" y="6350"/>
                  </a:lnTo>
                  <a:lnTo>
                    <a:pt x="1391615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3608" y="5353421"/>
            <a:ext cx="417290" cy="308848"/>
            <a:chOff x="0" y="0"/>
            <a:chExt cx="556387" cy="4117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40898" y="5353421"/>
            <a:ext cx="417290" cy="308848"/>
            <a:chOff x="0" y="0"/>
            <a:chExt cx="556387" cy="4117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58188" y="5353421"/>
            <a:ext cx="417290" cy="308848"/>
            <a:chOff x="0" y="0"/>
            <a:chExt cx="556387" cy="4117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075478" y="5353421"/>
            <a:ext cx="417290" cy="308848"/>
            <a:chOff x="0" y="0"/>
            <a:chExt cx="556387" cy="4117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492769" y="5353421"/>
            <a:ext cx="417290" cy="308848"/>
            <a:chOff x="0" y="0"/>
            <a:chExt cx="556387" cy="41179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910068" y="5353421"/>
            <a:ext cx="417290" cy="308848"/>
            <a:chOff x="0" y="0"/>
            <a:chExt cx="556387" cy="4117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327359" y="5353421"/>
            <a:ext cx="417290" cy="308848"/>
            <a:chOff x="0" y="0"/>
            <a:chExt cx="556387" cy="4117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744649" y="5353421"/>
            <a:ext cx="417290" cy="308848"/>
            <a:chOff x="0" y="0"/>
            <a:chExt cx="556387" cy="41179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161939" y="5353421"/>
            <a:ext cx="417290" cy="308848"/>
            <a:chOff x="0" y="0"/>
            <a:chExt cx="556387" cy="41179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579239" y="5353421"/>
            <a:ext cx="417290" cy="308848"/>
            <a:chOff x="0" y="0"/>
            <a:chExt cx="556387" cy="41179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996529" y="5353421"/>
            <a:ext cx="417290" cy="308848"/>
            <a:chOff x="0" y="0"/>
            <a:chExt cx="556387" cy="41179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413820" y="5353421"/>
            <a:ext cx="417290" cy="308848"/>
            <a:chOff x="0" y="0"/>
            <a:chExt cx="556387" cy="41179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831110" y="5353421"/>
            <a:ext cx="417290" cy="308848"/>
            <a:chOff x="0" y="0"/>
            <a:chExt cx="556387" cy="41179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248400" y="5353421"/>
            <a:ext cx="417290" cy="308848"/>
            <a:chOff x="0" y="0"/>
            <a:chExt cx="556387" cy="41179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665700" y="5353421"/>
            <a:ext cx="417290" cy="308848"/>
            <a:chOff x="0" y="0"/>
            <a:chExt cx="556387" cy="41179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082990" y="5353421"/>
            <a:ext cx="417290" cy="308848"/>
            <a:chOff x="0" y="0"/>
            <a:chExt cx="556387" cy="41179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500280" y="5353421"/>
            <a:ext cx="417290" cy="308848"/>
            <a:chOff x="0" y="0"/>
            <a:chExt cx="556387" cy="41179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7917571" y="5353421"/>
            <a:ext cx="417290" cy="308848"/>
            <a:chOff x="0" y="0"/>
            <a:chExt cx="556387" cy="41179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334870" y="5353421"/>
            <a:ext cx="417290" cy="308848"/>
            <a:chOff x="0" y="0"/>
            <a:chExt cx="556387" cy="41179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752161" y="5353421"/>
            <a:ext cx="417290" cy="308848"/>
            <a:chOff x="0" y="0"/>
            <a:chExt cx="556387" cy="41179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169451" y="5353421"/>
            <a:ext cx="417290" cy="308848"/>
            <a:chOff x="0" y="0"/>
            <a:chExt cx="556387" cy="41179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586741" y="5353421"/>
            <a:ext cx="417290" cy="308848"/>
            <a:chOff x="0" y="0"/>
            <a:chExt cx="556387" cy="41179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004041" y="5353421"/>
            <a:ext cx="417290" cy="308848"/>
            <a:chOff x="0" y="0"/>
            <a:chExt cx="556387" cy="41179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421331" y="5353421"/>
            <a:ext cx="417290" cy="308848"/>
            <a:chOff x="0" y="0"/>
            <a:chExt cx="556387" cy="41179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838621" y="5353421"/>
            <a:ext cx="417290" cy="308848"/>
            <a:chOff x="0" y="0"/>
            <a:chExt cx="556387" cy="41179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23608" y="5662270"/>
            <a:ext cx="417290" cy="308848"/>
            <a:chOff x="0" y="0"/>
            <a:chExt cx="556387" cy="41179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40898" y="5662270"/>
            <a:ext cx="417290" cy="308848"/>
            <a:chOff x="0" y="0"/>
            <a:chExt cx="556387" cy="41179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658188" y="5662270"/>
            <a:ext cx="417290" cy="308848"/>
            <a:chOff x="0" y="0"/>
            <a:chExt cx="556387" cy="41179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2075478" y="5662270"/>
            <a:ext cx="417290" cy="308848"/>
            <a:chOff x="0" y="0"/>
            <a:chExt cx="556387" cy="41179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2492769" y="5662270"/>
            <a:ext cx="417290" cy="308848"/>
            <a:chOff x="0" y="0"/>
            <a:chExt cx="556387" cy="41179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2910068" y="5662270"/>
            <a:ext cx="417290" cy="308848"/>
            <a:chOff x="0" y="0"/>
            <a:chExt cx="556387" cy="411797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3327359" y="5662270"/>
            <a:ext cx="417290" cy="308848"/>
            <a:chOff x="0" y="0"/>
            <a:chExt cx="556387" cy="41179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3744649" y="5662270"/>
            <a:ext cx="417290" cy="308848"/>
            <a:chOff x="0" y="0"/>
            <a:chExt cx="556387" cy="41179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4161939" y="5662270"/>
            <a:ext cx="417290" cy="308848"/>
            <a:chOff x="0" y="0"/>
            <a:chExt cx="556387" cy="41179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4579239" y="5662270"/>
            <a:ext cx="417290" cy="308848"/>
            <a:chOff x="0" y="0"/>
            <a:chExt cx="556387" cy="41179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4996529" y="5662270"/>
            <a:ext cx="417290" cy="308848"/>
            <a:chOff x="0" y="0"/>
            <a:chExt cx="556387" cy="41179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413820" y="5662270"/>
            <a:ext cx="417290" cy="308848"/>
            <a:chOff x="0" y="0"/>
            <a:chExt cx="556387" cy="41179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831110" y="5662270"/>
            <a:ext cx="417290" cy="308848"/>
            <a:chOff x="0" y="0"/>
            <a:chExt cx="556387" cy="41179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6248400" y="5662270"/>
            <a:ext cx="417290" cy="308848"/>
            <a:chOff x="0" y="0"/>
            <a:chExt cx="556387" cy="411797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6665700" y="5662270"/>
            <a:ext cx="417290" cy="308848"/>
            <a:chOff x="0" y="0"/>
            <a:chExt cx="556387" cy="41179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7082990" y="5662270"/>
            <a:ext cx="417290" cy="308848"/>
            <a:chOff x="0" y="0"/>
            <a:chExt cx="556387" cy="41179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7500280" y="5662270"/>
            <a:ext cx="417290" cy="308848"/>
            <a:chOff x="0" y="0"/>
            <a:chExt cx="556387" cy="411797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7917571" y="5662270"/>
            <a:ext cx="417290" cy="308848"/>
            <a:chOff x="0" y="0"/>
            <a:chExt cx="556387" cy="41179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8334870" y="5662270"/>
            <a:ext cx="417290" cy="308848"/>
            <a:chOff x="0" y="0"/>
            <a:chExt cx="556387" cy="41179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8752161" y="5662270"/>
            <a:ext cx="417290" cy="308848"/>
            <a:chOff x="0" y="0"/>
            <a:chExt cx="556387" cy="411797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169451" y="5662270"/>
            <a:ext cx="417290" cy="308848"/>
            <a:chOff x="0" y="0"/>
            <a:chExt cx="556387" cy="411797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586741" y="5662270"/>
            <a:ext cx="417290" cy="308848"/>
            <a:chOff x="0" y="0"/>
            <a:chExt cx="556387" cy="41179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0004041" y="5662270"/>
            <a:ext cx="417290" cy="308848"/>
            <a:chOff x="0" y="0"/>
            <a:chExt cx="556387" cy="411797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0421331" y="5662270"/>
            <a:ext cx="417290" cy="308848"/>
            <a:chOff x="0" y="0"/>
            <a:chExt cx="556387" cy="411797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0838621" y="5662270"/>
            <a:ext cx="417290" cy="308848"/>
            <a:chOff x="0" y="0"/>
            <a:chExt cx="556387" cy="41179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823608" y="5971127"/>
            <a:ext cx="417290" cy="308848"/>
            <a:chOff x="0" y="0"/>
            <a:chExt cx="556387" cy="411797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40898" y="5971127"/>
            <a:ext cx="417290" cy="308848"/>
            <a:chOff x="0" y="0"/>
            <a:chExt cx="556387" cy="411797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658188" y="5971127"/>
            <a:ext cx="417290" cy="308848"/>
            <a:chOff x="0" y="0"/>
            <a:chExt cx="556387" cy="411797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2075478" y="5971127"/>
            <a:ext cx="417290" cy="308848"/>
            <a:chOff x="0" y="0"/>
            <a:chExt cx="556387" cy="411797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2492769" y="5971127"/>
            <a:ext cx="417290" cy="308848"/>
            <a:chOff x="0" y="0"/>
            <a:chExt cx="556387" cy="411797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2910068" y="5971127"/>
            <a:ext cx="417290" cy="308848"/>
            <a:chOff x="0" y="0"/>
            <a:chExt cx="556387" cy="411797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3327359" y="5971127"/>
            <a:ext cx="417290" cy="308848"/>
            <a:chOff x="0" y="0"/>
            <a:chExt cx="556387" cy="411797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3744649" y="5971127"/>
            <a:ext cx="417290" cy="308848"/>
            <a:chOff x="0" y="0"/>
            <a:chExt cx="556387" cy="411797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4161939" y="5971127"/>
            <a:ext cx="417290" cy="308848"/>
            <a:chOff x="0" y="0"/>
            <a:chExt cx="556387" cy="411797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4579239" y="5971127"/>
            <a:ext cx="417290" cy="308848"/>
            <a:chOff x="0" y="0"/>
            <a:chExt cx="556387" cy="411797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4996529" y="5971127"/>
            <a:ext cx="417290" cy="308848"/>
            <a:chOff x="0" y="0"/>
            <a:chExt cx="556387" cy="411797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5413820" y="5971127"/>
            <a:ext cx="417290" cy="308848"/>
            <a:chOff x="0" y="0"/>
            <a:chExt cx="556387" cy="411797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5831110" y="5971127"/>
            <a:ext cx="417290" cy="308848"/>
            <a:chOff x="0" y="0"/>
            <a:chExt cx="556387" cy="411797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6248400" y="5971127"/>
            <a:ext cx="417290" cy="308848"/>
            <a:chOff x="0" y="0"/>
            <a:chExt cx="556387" cy="411797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6665700" y="5971127"/>
            <a:ext cx="417290" cy="308848"/>
            <a:chOff x="0" y="0"/>
            <a:chExt cx="556387" cy="411797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7082990" y="5971127"/>
            <a:ext cx="417290" cy="308848"/>
            <a:chOff x="0" y="0"/>
            <a:chExt cx="556387" cy="411797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7500280" y="5971127"/>
            <a:ext cx="417290" cy="308848"/>
            <a:chOff x="0" y="0"/>
            <a:chExt cx="556387" cy="411797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7917571" y="5971127"/>
            <a:ext cx="417290" cy="308848"/>
            <a:chOff x="0" y="0"/>
            <a:chExt cx="556387" cy="41179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8334870" y="5971127"/>
            <a:ext cx="417290" cy="308848"/>
            <a:chOff x="0" y="0"/>
            <a:chExt cx="556387" cy="411797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8752161" y="5971127"/>
            <a:ext cx="417290" cy="308848"/>
            <a:chOff x="0" y="0"/>
            <a:chExt cx="556387" cy="411797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9169451" y="5971127"/>
            <a:ext cx="417290" cy="308848"/>
            <a:chOff x="0" y="0"/>
            <a:chExt cx="556387" cy="411797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9586741" y="5971127"/>
            <a:ext cx="417290" cy="308848"/>
            <a:chOff x="0" y="0"/>
            <a:chExt cx="556387" cy="411797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0004041" y="5971127"/>
            <a:ext cx="417290" cy="308848"/>
            <a:chOff x="0" y="0"/>
            <a:chExt cx="556387" cy="411797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0421331" y="5971127"/>
            <a:ext cx="417290" cy="308848"/>
            <a:chOff x="0" y="0"/>
            <a:chExt cx="556387" cy="411797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0838621" y="5971127"/>
            <a:ext cx="417290" cy="308848"/>
            <a:chOff x="0" y="0"/>
            <a:chExt cx="556387" cy="411797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823608" y="6279975"/>
            <a:ext cx="417290" cy="308848"/>
            <a:chOff x="0" y="0"/>
            <a:chExt cx="556387" cy="411797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240898" y="6279975"/>
            <a:ext cx="417290" cy="308848"/>
            <a:chOff x="0" y="0"/>
            <a:chExt cx="556387" cy="411797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1658188" y="6279975"/>
            <a:ext cx="417290" cy="308848"/>
            <a:chOff x="0" y="0"/>
            <a:chExt cx="556387" cy="411797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2075478" y="6279975"/>
            <a:ext cx="417290" cy="308848"/>
            <a:chOff x="0" y="0"/>
            <a:chExt cx="556387" cy="41179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2492769" y="6279975"/>
            <a:ext cx="417290" cy="308848"/>
            <a:chOff x="0" y="0"/>
            <a:chExt cx="556387" cy="411797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2910068" y="6279975"/>
            <a:ext cx="417290" cy="308848"/>
            <a:chOff x="0" y="0"/>
            <a:chExt cx="556387" cy="411797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3327359" y="6279975"/>
            <a:ext cx="417290" cy="308848"/>
            <a:chOff x="0" y="0"/>
            <a:chExt cx="556387" cy="411797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3744649" y="6279975"/>
            <a:ext cx="417290" cy="308848"/>
            <a:chOff x="0" y="0"/>
            <a:chExt cx="556387" cy="411797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4161939" y="6279975"/>
            <a:ext cx="417290" cy="308848"/>
            <a:chOff x="0" y="0"/>
            <a:chExt cx="556387" cy="411797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195" id="195"/>
          <p:cNvGrpSpPr/>
          <p:nvPr/>
        </p:nvGrpSpPr>
        <p:grpSpPr>
          <a:xfrm rot="0">
            <a:off x="4579239" y="6279975"/>
            <a:ext cx="417290" cy="308848"/>
            <a:chOff x="0" y="0"/>
            <a:chExt cx="556387" cy="41179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4996529" y="6279975"/>
            <a:ext cx="417290" cy="308848"/>
            <a:chOff x="0" y="0"/>
            <a:chExt cx="556387" cy="411797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5413820" y="6279975"/>
            <a:ext cx="417290" cy="308848"/>
            <a:chOff x="0" y="0"/>
            <a:chExt cx="556387" cy="411797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5831110" y="6279975"/>
            <a:ext cx="417290" cy="308848"/>
            <a:chOff x="0" y="0"/>
            <a:chExt cx="556387" cy="411797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6248400" y="6279975"/>
            <a:ext cx="417290" cy="308848"/>
            <a:chOff x="0" y="0"/>
            <a:chExt cx="556387" cy="411797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6665700" y="6279975"/>
            <a:ext cx="417290" cy="308848"/>
            <a:chOff x="0" y="0"/>
            <a:chExt cx="556387" cy="411797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07" id="207"/>
          <p:cNvGrpSpPr/>
          <p:nvPr/>
        </p:nvGrpSpPr>
        <p:grpSpPr>
          <a:xfrm rot="0">
            <a:off x="7082990" y="6279975"/>
            <a:ext cx="417290" cy="308848"/>
            <a:chOff x="0" y="0"/>
            <a:chExt cx="556387" cy="41179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7500280" y="6279975"/>
            <a:ext cx="417290" cy="308848"/>
            <a:chOff x="0" y="0"/>
            <a:chExt cx="556387" cy="411797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11" id="211"/>
          <p:cNvGrpSpPr/>
          <p:nvPr/>
        </p:nvGrpSpPr>
        <p:grpSpPr>
          <a:xfrm rot="0">
            <a:off x="7917571" y="6279975"/>
            <a:ext cx="417290" cy="308848"/>
            <a:chOff x="0" y="0"/>
            <a:chExt cx="556387" cy="411797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13" id="213"/>
          <p:cNvGrpSpPr/>
          <p:nvPr/>
        </p:nvGrpSpPr>
        <p:grpSpPr>
          <a:xfrm rot="0">
            <a:off x="8334870" y="6279975"/>
            <a:ext cx="417290" cy="308848"/>
            <a:chOff x="0" y="0"/>
            <a:chExt cx="556387" cy="411797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8752161" y="6279975"/>
            <a:ext cx="417290" cy="308848"/>
            <a:chOff x="0" y="0"/>
            <a:chExt cx="556387" cy="411797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17" id="217"/>
          <p:cNvGrpSpPr/>
          <p:nvPr/>
        </p:nvGrpSpPr>
        <p:grpSpPr>
          <a:xfrm rot="0">
            <a:off x="9169451" y="6279975"/>
            <a:ext cx="417290" cy="308848"/>
            <a:chOff x="0" y="0"/>
            <a:chExt cx="556387" cy="411797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19" id="219"/>
          <p:cNvGrpSpPr/>
          <p:nvPr/>
        </p:nvGrpSpPr>
        <p:grpSpPr>
          <a:xfrm rot="0">
            <a:off x="9586741" y="6279975"/>
            <a:ext cx="417290" cy="308848"/>
            <a:chOff x="0" y="0"/>
            <a:chExt cx="556387" cy="41179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10004041" y="6279975"/>
            <a:ext cx="417290" cy="308848"/>
            <a:chOff x="0" y="0"/>
            <a:chExt cx="556387" cy="411797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10421331" y="6279975"/>
            <a:ext cx="417290" cy="308848"/>
            <a:chOff x="0" y="0"/>
            <a:chExt cx="556387" cy="411797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10838621" y="6279975"/>
            <a:ext cx="417290" cy="308848"/>
            <a:chOff x="0" y="0"/>
            <a:chExt cx="556387" cy="411797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823608" y="6588824"/>
            <a:ext cx="417290" cy="308848"/>
            <a:chOff x="0" y="0"/>
            <a:chExt cx="556387" cy="411797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29" id="229"/>
          <p:cNvGrpSpPr/>
          <p:nvPr/>
        </p:nvGrpSpPr>
        <p:grpSpPr>
          <a:xfrm rot="0">
            <a:off x="1240898" y="6588824"/>
            <a:ext cx="417290" cy="308848"/>
            <a:chOff x="0" y="0"/>
            <a:chExt cx="556387" cy="41179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1658188" y="6588824"/>
            <a:ext cx="417290" cy="308848"/>
            <a:chOff x="0" y="0"/>
            <a:chExt cx="556387" cy="411797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2075478" y="6588824"/>
            <a:ext cx="417290" cy="308848"/>
            <a:chOff x="0" y="0"/>
            <a:chExt cx="556387" cy="411797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35" id="235"/>
          <p:cNvGrpSpPr/>
          <p:nvPr/>
        </p:nvGrpSpPr>
        <p:grpSpPr>
          <a:xfrm rot="0">
            <a:off x="2492769" y="6588824"/>
            <a:ext cx="417290" cy="308848"/>
            <a:chOff x="0" y="0"/>
            <a:chExt cx="556387" cy="411797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37" id="237"/>
          <p:cNvGrpSpPr/>
          <p:nvPr/>
        </p:nvGrpSpPr>
        <p:grpSpPr>
          <a:xfrm rot="0">
            <a:off x="2910068" y="6588824"/>
            <a:ext cx="417290" cy="308848"/>
            <a:chOff x="0" y="0"/>
            <a:chExt cx="556387" cy="411797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39" id="239"/>
          <p:cNvGrpSpPr/>
          <p:nvPr/>
        </p:nvGrpSpPr>
        <p:grpSpPr>
          <a:xfrm rot="0">
            <a:off x="3327359" y="6588824"/>
            <a:ext cx="417290" cy="308848"/>
            <a:chOff x="0" y="0"/>
            <a:chExt cx="556387" cy="411797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41" id="241"/>
          <p:cNvGrpSpPr/>
          <p:nvPr/>
        </p:nvGrpSpPr>
        <p:grpSpPr>
          <a:xfrm rot="0">
            <a:off x="3744649" y="6588824"/>
            <a:ext cx="417290" cy="308848"/>
            <a:chOff x="0" y="0"/>
            <a:chExt cx="556387" cy="411797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43" id="243"/>
          <p:cNvGrpSpPr/>
          <p:nvPr/>
        </p:nvGrpSpPr>
        <p:grpSpPr>
          <a:xfrm rot="0">
            <a:off x="4161939" y="6588824"/>
            <a:ext cx="417290" cy="308848"/>
            <a:chOff x="0" y="0"/>
            <a:chExt cx="556387" cy="411797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45" id="245"/>
          <p:cNvGrpSpPr/>
          <p:nvPr/>
        </p:nvGrpSpPr>
        <p:grpSpPr>
          <a:xfrm rot="0">
            <a:off x="4579239" y="6588824"/>
            <a:ext cx="417290" cy="308848"/>
            <a:chOff x="0" y="0"/>
            <a:chExt cx="556387" cy="41179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4996529" y="6588824"/>
            <a:ext cx="417290" cy="308848"/>
            <a:chOff x="0" y="0"/>
            <a:chExt cx="556387" cy="411797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5413820" y="6588824"/>
            <a:ext cx="417290" cy="308848"/>
            <a:chOff x="0" y="0"/>
            <a:chExt cx="556387" cy="411797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51" id="251"/>
          <p:cNvGrpSpPr/>
          <p:nvPr/>
        </p:nvGrpSpPr>
        <p:grpSpPr>
          <a:xfrm rot="0">
            <a:off x="5831110" y="6588824"/>
            <a:ext cx="417290" cy="308848"/>
            <a:chOff x="0" y="0"/>
            <a:chExt cx="556387" cy="411797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53" id="253"/>
          <p:cNvGrpSpPr/>
          <p:nvPr/>
        </p:nvGrpSpPr>
        <p:grpSpPr>
          <a:xfrm rot="0">
            <a:off x="6248400" y="6588824"/>
            <a:ext cx="417290" cy="308848"/>
            <a:chOff x="0" y="0"/>
            <a:chExt cx="556387" cy="411797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55" id="255"/>
          <p:cNvGrpSpPr/>
          <p:nvPr/>
        </p:nvGrpSpPr>
        <p:grpSpPr>
          <a:xfrm rot="0">
            <a:off x="6665700" y="6588824"/>
            <a:ext cx="417290" cy="308848"/>
            <a:chOff x="0" y="0"/>
            <a:chExt cx="556387" cy="41179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7082990" y="6588824"/>
            <a:ext cx="417290" cy="308848"/>
            <a:chOff x="0" y="0"/>
            <a:chExt cx="556387" cy="411797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7500280" y="6588824"/>
            <a:ext cx="417290" cy="308848"/>
            <a:chOff x="0" y="0"/>
            <a:chExt cx="556387" cy="411797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61" id="261"/>
          <p:cNvGrpSpPr/>
          <p:nvPr/>
        </p:nvGrpSpPr>
        <p:grpSpPr>
          <a:xfrm rot="0">
            <a:off x="7917571" y="6588824"/>
            <a:ext cx="417290" cy="308848"/>
            <a:chOff x="0" y="0"/>
            <a:chExt cx="556387" cy="411797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63" id="263"/>
          <p:cNvGrpSpPr/>
          <p:nvPr/>
        </p:nvGrpSpPr>
        <p:grpSpPr>
          <a:xfrm rot="0">
            <a:off x="8334870" y="6588824"/>
            <a:ext cx="417290" cy="308848"/>
            <a:chOff x="0" y="0"/>
            <a:chExt cx="556387" cy="411797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65" id="265"/>
          <p:cNvGrpSpPr/>
          <p:nvPr/>
        </p:nvGrpSpPr>
        <p:grpSpPr>
          <a:xfrm rot="0">
            <a:off x="8752161" y="6588824"/>
            <a:ext cx="417290" cy="308848"/>
            <a:chOff x="0" y="0"/>
            <a:chExt cx="556387" cy="411797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67" id="267"/>
          <p:cNvGrpSpPr/>
          <p:nvPr/>
        </p:nvGrpSpPr>
        <p:grpSpPr>
          <a:xfrm rot="0">
            <a:off x="9169451" y="6588824"/>
            <a:ext cx="417290" cy="308848"/>
            <a:chOff x="0" y="0"/>
            <a:chExt cx="556387" cy="411797"/>
          </a:xfrm>
        </p:grpSpPr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69" id="269"/>
          <p:cNvGrpSpPr/>
          <p:nvPr/>
        </p:nvGrpSpPr>
        <p:grpSpPr>
          <a:xfrm rot="0">
            <a:off x="9586741" y="6588824"/>
            <a:ext cx="417290" cy="308848"/>
            <a:chOff x="0" y="0"/>
            <a:chExt cx="556387" cy="411797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71" id="271"/>
          <p:cNvGrpSpPr/>
          <p:nvPr/>
        </p:nvGrpSpPr>
        <p:grpSpPr>
          <a:xfrm rot="0">
            <a:off x="10004041" y="6588824"/>
            <a:ext cx="417290" cy="308848"/>
            <a:chOff x="0" y="0"/>
            <a:chExt cx="556387" cy="41179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0421331" y="6588824"/>
            <a:ext cx="417290" cy="308848"/>
            <a:chOff x="0" y="0"/>
            <a:chExt cx="556387" cy="411797"/>
          </a:xfrm>
        </p:grpSpPr>
        <p:sp>
          <p:nvSpPr>
            <p:cNvPr name="Freeform 274" id="27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0838621" y="6588824"/>
            <a:ext cx="417290" cy="308848"/>
            <a:chOff x="0" y="0"/>
            <a:chExt cx="556387" cy="411797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77" id="277"/>
          <p:cNvGrpSpPr/>
          <p:nvPr/>
        </p:nvGrpSpPr>
        <p:grpSpPr>
          <a:xfrm rot="0">
            <a:off x="823608" y="6897681"/>
            <a:ext cx="417290" cy="308848"/>
            <a:chOff x="0" y="0"/>
            <a:chExt cx="556387" cy="411797"/>
          </a:xfrm>
        </p:grpSpPr>
        <p:sp>
          <p:nvSpPr>
            <p:cNvPr name="Freeform 278" id="27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79" id="279"/>
          <p:cNvGrpSpPr/>
          <p:nvPr/>
        </p:nvGrpSpPr>
        <p:grpSpPr>
          <a:xfrm rot="0">
            <a:off x="1240898" y="6897681"/>
            <a:ext cx="417290" cy="308848"/>
            <a:chOff x="0" y="0"/>
            <a:chExt cx="556387" cy="411797"/>
          </a:xfrm>
        </p:grpSpPr>
        <p:sp>
          <p:nvSpPr>
            <p:cNvPr name="Freeform 280" id="28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81" id="281"/>
          <p:cNvGrpSpPr/>
          <p:nvPr/>
        </p:nvGrpSpPr>
        <p:grpSpPr>
          <a:xfrm rot="0">
            <a:off x="1658188" y="6897681"/>
            <a:ext cx="417290" cy="308848"/>
            <a:chOff x="0" y="0"/>
            <a:chExt cx="556387" cy="41179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2075478" y="6897681"/>
            <a:ext cx="417290" cy="308848"/>
            <a:chOff x="0" y="0"/>
            <a:chExt cx="556387" cy="411797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2492769" y="6897681"/>
            <a:ext cx="417290" cy="308848"/>
            <a:chOff x="0" y="0"/>
            <a:chExt cx="556387" cy="411797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87" id="287"/>
          <p:cNvGrpSpPr/>
          <p:nvPr/>
        </p:nvGrpSpPr>
        <p:grpSpPr>
          <a:xfrm rot="0">
            <a:off x="2910068" y="6897681"/>
            <a:ext cx="417290" cy="308848"/>
            <a:chOff x="0" y="0"/>
            <a:chExt cx="556387" cy="411797"/>
          </a:xfrm>
        </p:grpSpPr>
        <p:sp>
          <p:nvSpPr>
            <p:cNvPr name="Freeform 288" id="28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89" id="289"/>
          <p:cNvGrpSpPr/>
          <p:nvPr/>
        </p:nvGrpSpPr>
        <p:grpSpPr>
          <a:xfrm rot="0">
            <a:off x="3327359" y="6897681"/>
            <a:ext cx="417290" cy="308848"/>
            <a:chOff x="0" y="0"/>
            <a:chExt cx="556387" cy="411797"/>
          </a:xfrm>
        </p:grpSpPr>
        <p:sp>
          <p:nvSpPr>
            <p:cNvPr name="Freeform 290" id="29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91" id="291"/>
          <p:cNvGrpSpPr/>
          <p:nvPr/>
        </p:nvGrpSpPr>
        <p:grpSpPr>
          <a:xfrm rot="0">
            <a:off x="3744649" y="6897681"/>
            <a:ext cx="417290" cy="308848"/>
            <a:chOff x="0" y="0"/>
            <a:chExt cx="556387" cy="411797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293" id="293"/>
          <p:cNvGrpSpPr/>
          <p:nvPr/>
        </p:nvGrpSpPr>
        <p:grpSpPr>
          <a:xfrm rot="0">
            <a:off x="4161939" y="6897681"/>
            <a:ext cx="417290" cy="308848"/>
            <a:chOff x="0" y="0"/>
            <a:chExt cx="556387" cy="411797"/>
          </a:xfrm>
        </p:grpSpPr>
        <p:sp>
          <p:nvSpPr>
            <p:cNvPr name="Freeform 294" id="29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95" id="295"/>
          <p:cNvGrpSpPr/>
          <p:nvPr/>
        </p:nvGrpSpPr>
        <p:grpSpPr>
          <a:xfrm rot="0">
            <a:off x="4579239" y="6897681"/>
            <a:ext cx="417290" cy="308848"/>
            <a:chOff x="0" y="0"/>
            <a:chExt cx="556387" cy="411797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297" id="297"/>
          <p:cNvGrpSpPr/>
          <p:nvPr/>
        </p:nvGrpSpPr>
        <p:grpSpPr>
          <a:xfrm rot="0">
            <a:off x="4996529" y="6897681"/>
            <a:ext cx="417290" cy="308848"/>
            <a:chOff x="0" y="0"/>
            <a:chExt cx="556387" cy="411797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5413820" y="6897681"/>
            <a:ext cx="417290" cy="308848"/>
            <a:chOff x="0" y="0"/>
            <a:chExt cx="556387" cy="411797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5831110" y="6897681"/>
            <a:ext cx="417290" cy="308848"/>
            <a:chOff x="0" y="0"/>
            <a:chExt cx="556387" cy="411797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6248400" y="6897681"/>
            <a:ext cx="417290" cy="308848"/>
            <a:chOff x="0" y="0"/>
            <a:chExt cx="556387" cy="41179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6665700" y="6897681"/>
            <a:ext cx="417290" cy="308848"/>
            <a:chOff x="0" y="0"/>
            <a:chExt cx="556387" cy="411797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07" id="307"/>
          <p:cNvGrpSpPr/>
          <p:nvPr/>
        </p:nvGrpSpPr>
        <p:grpSpPr>
          <a:xfrm rot="0">
            <a:off x="7082990" y="6897681"/>
            <a:ext cx="417290" cy="308848"/>
            <a:chOff x="0" y="0"/>
            <a:chExt cx="556387" cy="411797"/>
          </a:xfrm>
        </p:grpSpPr>
        <p:sp>
          <p:nvSpPr>
            <p:cNvPr name="Freeform 308" id="30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09" id="309"/>
          <p:cNvGrpSpPr/>
          <p:nvPr/>
        </p:nvGrpSpPr>
        <p:grpSpPr>
          <a:xfrm rot="0">
            <a:off x="7500280" y="6897681"/>
            <a:ext cx="417290" cy="308848"/>
            <a:chOff x="0" y="0"/>
            <a:chExt cx="556387" cy="411797"/>
          </a:xfrm>
        </p:grpSpPr>
        <p:sp>
          <p:nvSpPr>
            <p:cNvPr name="Freeform 310" id="31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11" id="311"/>
          <p:cNvGrpSpPr/>
          <p:nvPr/>
        </p:nvGrpSpPr>
        <p:grpSpPr>
          <a:xfrm rot="0">
            <a:off x="7917571" y="6897681"/>
            <a:ext cx="417290" cy="308848"/>
            <a:chOff x="0" y="0"/>
            <a:chExt cx="556387" cy="411797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13" id="313"/>
          <p:cNvGrpSpPr/>
          <p:nvPr/>
        </p:nvGrpSpPr>
        <p:grpSpPr>
          <a:xfrm rot="0">
            <a:off x="8334870" y="6897681"/>
            <a:ext cx="417290" cy="308848"/>
            <a:chOff x="0" y="0"/>
            <a:chExt cx="556387" cy="411797"/>
          </a:xfrm>
        </p:grpSpPr>
        <p:sp>
          <p:nvSpPr>
            <p:cNvPr name="Freeform 314" id="31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15" id="315"/>
          <p:cNvGrpSpPr/>
          <p:nvPr/>
        </p:nvGrpSpPr>
        <p:grpSpPr>
          <a:xfrm rot="0">
            <a:off x="8752161" y="6897681"/>
            <a:ext cx="417290" cy="308848"/>
            <a:chOff x="0" y="0"/>
            <a:chExt cx="556387" cy="411797"/>
          </a:xfrm>
        </p:grpSpPr>
        <p:sp>
          <p:nvSpPr>
            <p:cNvPr name="Freeform 316" id="31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17" id="317"/>
          <p:cNvGrpSpPr/>
          <p:nvPr/>
        </p:nvGrpSpPr>
        <p:grpSpPr>
          <a:xfrm rot="0">
            <a:off x="9169451" y="6897681"/>
            <a:ext cx="417290" cy="308848"/>
            <a:chOff x="0" y="0"/>
            <a:chExt cx="556387" cy="411797"/>
          </a:xfrm>
        </p:grpSpPr>
        <p:sp>
          <p:nvSpPr>
            <p:cNvPr name="Freeform 318" id="31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319" id="319"/>
          <p:cNvGrpSpPr/>
          <p:nvPr/>
        </p:nvGrpSpPr>
        <p:grpSpPr>
          <a:xfrm rot="0">
            <a:off x="9586741" y="6897681"/>
            <a:ext cx="417290" cy="308848"/>
            <a:chOff x="0" y="0"/>
            <a:chExt cx="556387" cy="411797"/>
          </a:xfrm>
        </p:grpSpPr>
        <p:sp>
          <p:nvSpPr>
            <p:cNvPr name="Freeform 320" id="32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21" id="321"/>
          <p:cNvGrpSpPr/>
          <p:nvPr/>
        </p:nvGrpSpPr>
        <p:grpSpPr>
          <a:xfrm rot="0">
            <a:off x="10004041" y="6897681"/>
            <a:ext cx="417290" cy="308848"/>
            <a:chOff x="0" y="0"/>
            <a:chExt cx="556387" cy="411797"/>
          </a:xfrm>
        </p:grpSpPr>
        <p:sp>
          <p:nvSpPr>
            <p:cNvPr name="Freeform 322" id="32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23" id="323"/>
          <p:cNvGrpSpPr/>
          <p:nvPr/>
        </p:nvGrpSpPr>
        <p:grpSpPr>
          <a:xfrm rot="0">
            <a:off x="10421331" y="6897681"/>
            <a:ext cx="417290" cy="308848"/>
            <a:chOff x="0" y="0"/>
            <a:chExt cx="556387" cy="411797"/>
          </a:xfrm>
        </p:grpSpPr>
        <p:sp>
          <p:nvSpPr>
            <p:cNvPr name="Freeform 324" id="32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25" id="325"/>
          <p:cNvGrpSpPr/>
          <p:nvPr/>
        </p:nvGrpSpPr>
        <p:grpSpPr>
          <a:xfrm rot="0">
            <a:off x="10838621" y="6897681"/>
            <a:ext cx="417290" cy="308848"/>
            <a:chOff x="0" y="0"/>
            <a:chExt cx="556387" cy="411797"/>
          </a:xfrm>
        </p:grpSpPr>
        <p:sp>
          <p:nvSpPr>
            <p:cNvPr name="Freeform 326" id="32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27" id="327"/>
          <p:cNvGrpSpPr/>
          <p:nvPr/>
        </p:nvGrpSpPr>
        <p:grpSpPr>
          <a:xfrm rot="0">
            <a:off x="823608" y="7206529"/>
            <a:ext cx="417290" cy="308848"/>
            <a:chOff x="0" y="0"/>
            <a:chExt cx="556387" cy="411797"/>
          </a:xfrm>
        </p:grpSpPr>
        <p:sp>
          <p:nvSpPr>
            <p:cNvPr name="Freeform 328" id="32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29" id="329"/>
          <p:cNvGrpSpPr/>
          <p:nvPr/>
        </p:nvGrpSpPr>
        <p:grpSpPr>
          <a:xfrm rot="0">
            <a:off x="1240898" y="7206529"/>
            <a:ext cx="417290" cy="308848"/>
            <a:chOff x="0" y="0"/>
            <a:chExt cx="556387" cy="411797"/>
          </a:xfrm>
        </p:grpSpPr>
        <p:sp>
          <p:nvSpPr>
            <p:cNvPr name="Freeform 330" id="33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31" id="331"/>
          <p:cNvGrpSpPr/>
          <p:nvPr/>
        </p:nvGrpSpPr>
        <p:grpSpPr>
          <a:xfrm rot="0">
            <a:off x="1658188" y="7206529"/>
            <a:ext cx="417290" cy="308848"/>
            <a:chOff x="0" y="0"/>
            <a:chExt cx="556387" cy="411797"/>
          </a:xfrm>
        </p:grpSpPr>
        <p:sp>
          <p:nvSpPr>
            <p:cNvPr name="Freeform 332" id="33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333" id="333"/>
          <p:cNvGrpSpPr/>
          <p:nvPr/>
        </p:nvGrpSpPr>
        <p:grpSpPr>
          <a:xfrm rot="0">
            <a:off x="2075478" y="7206529"/>
            <a:ext cx="417290" cy="308848"/>
            <a:chOff x="0" y="0"/>
            <a:chExt cx="556387" cy="411797"/>
          </a:xfrm>
        </p:grpSpPr>
        <p:sp>
          <p:nvSpPr>
            <p:cNvPr name="Freeform 334" id="33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35" id="335"/>
          <p:cNvGrpSpPr/>
          <p:nvPr/>
        </p:nvGrpSpPr>
        <p:grpSpPr>
          <a:xfrm rot="0">
            <a:off x="2492769" y="7206529"/>
            <a:ext cx="417290" cy="308848"/>
            <a:chOff x="0" y="0"/>
            <a:chExt cx="556387" cy="411797"/>
          </a:xfrm>
        </p:grpSpPr>
        <p:sp>
          <p:nvSpPr>
            <p:cNvPr name="Freeform 336" id="33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37" id="337"/>
          <p:cNvGrpSpPr/>
          <p:nvPr/>
        </p:nvGrpSpPr>
        <p:grpSpPr>
          <a:xfrm rot="0">
            <a:off x="2910068" y="7206529"/>
            <a:ext cx="417290" cy="308848"/>
            <a:chOff x="0" y="0"/>
            <a:chExt cx="556387" cy="411797"/>
          </a:xfrm>
        </p:grpSpPr>
        <p:sp>
          <p:nvSpPr>
            <p:cNvPr name="Freeform 338" id="33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39" id="339"/>
          <p:cNvGrpSpPr/>
          <p:nvPr/>
        </p:nvGrpSpPr>
        <p:grpSpPr>
          <a:xfrm rot="0">
            <a:off x="3327359" y="7206529"/>
            <a:ext cx="417290" cy="308848"/>
            <a:chOff x="0" y="0"/>
            <a:chExt cx="556387" cy="411797"/>
          </a:xfrm>
        </p:grpSpPr>
        <p:sp>
          <p:nvSpPr>
            <p:cNvPr name="Freeform 340" id="34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41" id="341"/>
          <p:cNvGrpSpPr/>
          <p:nvPr/>
        </p:nvGrpSpPr>
        <p:grpSpPr>
          <a:xfrm rot="0">
            <a:off x="3744649" y="7206529"/>
            <a:ext cx="417290" cy="308848"/>
            <a:chOff x="0" y="0"/>
            <a:chExt cx="556387" cy="411797"/>
          </a:xfrm>
        </p:grpSpPr>
        <p:sp>
          <p:nvSpPr>
            <p:cNvPr name="Freeform 342" id="34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43" id="343"/>
          <p:cNvGrpSpPr/>
          <p:nvPr/>
        </p:nvGrpSpPr>
        <p:grpSpPr>
          <a:xfrm rot="0">
            <a:off x="4161939" y="7206529"/>
            <a:ext cx="417290" cy="308848"/>
            <a:chOff x="0" y="0"/>
            <a:chExt cx="556387" cy="411797"/>
          </a:xfrm>
        </p:grpSpPr>
        <p:sp>
          <p:nvSpPr>
            <p:cNvPr name="Freeform 344" id="34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45" id="345"/>
          <p:cNvGrpSpPr/>
          <p:nvPr/>
        </p:nvGrpSpPr>
        <p:grpSpPr>
          <a:xfrm rot="0">
            <a:off x="4579239" y="7206529"/>
            <a:ext cx="417290" cy="308848"/>
            <a:chOff x="0" y="0"/>
            <a:chExt cx="556387" cy="411797"/>
          </a:xfrm>
        </p:grpSpPr>
        <p:sp>
          <p:nvSpPr>
            <p:cNvPr name="Freeform 346" id="34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47" id="347"/>
          <p:cNvGrpSpPr/>
          <p:nvPr/>
        </p:nvGrpSpPr>
        <p:grpSpPr>
          <a:xfrm rot="0">
            <a:off x="4996529" y="7206529"/>
            <a:ext cx="417290" cy="308848"/>
            <a:chOff x="0" y="0"/>
            <a:chExt cx="556387" cy="411797"/>
          </a:xfrm>
        </p:grpSpPr>
        <p:sp>
          <p:nvSpPr>
            <p:cNvPr name="Freeform 348" id="34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49" id="349"/>
          <p:cNvGrpSpPr/>
          <p:nvPr/>
        </p:nvGrpSpPr>
        <p:grpSpPr>
          <a:xfrm rot="0">
            <a:off x="5413820" y="7206529"/>
            <a:ext cx="417290" cy="308848"/>
            <a:chOff x="0" y="0"/>
            <a:chExt cx="556387" cy="411797"/>
          </a:xfrm>
        </p:grpSpPr>
        <p:sp>
          <p:nvSpPr>
            <p:cNvPr name="Freeform 350" id="35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51" id="351"/>
          <p:cNvGrpSpPr/>
          <p:nvPr/>
        </p:nvGrpSpPr>
        <p:grpSpPr>
          <a:xfrm rot="0">
            <a:off x="5831110" y="7206529"/>
            <a:ext cx="417290" cy="308848"/>
            <a:chOff x="0" y="0"/>
            <a:chExt cx="556387" cy="411797"/>
          </a:xfrm>
        </p:grpSpPr>
        <p:sp>
          <p:nvSpPr>
            <p:cNvPr name="Freeform 352" id="35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353" id="353"/>
          <p:cNvGrpSpPr/>
          <p:nvPr/>
        </p:nvGrpSpPr>
        <p:grpSpPr>
          <a:xfrm rot="0">
            <a:off x="6248400" y="7206529"/>
            <a:ext cx="417290" cy="308848"/>
            <a:chOff x="0" y="0"/>
            <a:chExt cx="556387" cy="411797"/>
          </a:xfrm>
        </p:grpSpPr>
        <p:sp>
          <p:nvSpPr>
            <p:cNvPr name="Freeform 354" id="35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55" id="355"/>
          <p:cNvGrpSpPr/>
          <p:nvPr/>
        </p:nvGrpSpPr>
        <p:grpSpPr>
          <a:xfrm rot="0">
            <a:off x="6665700" y="7206529"/>
            <a:ext cx="417290" cy="308848"/>
            <a:chOff x="0" y="0"/>
            <a:chExt cx="556387" cy="411797"/>
          </a:xfrm>
        </p:grpSpPr>
        <p:sp>
          <p:nvSpPr>
            <p:cNvPr name="Freeform 356" id="35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357" id="357"/>
          <p:cNvGrpSpPr/>
          <p:nvPr/>
        </p:nvGrpSpPr>
        <p:grpSpPr>
          <a:xfrm rot="0">
            <a:off x="7082990" y="7206529"/>
            <a:ext cx="417290" cy="308848"/>
            <a:chOff x="0" y="0"/>
            <a:chExt cx="556387" cy="411797"/>
          </a:xfrm>
        </p:grpSpPr>
        <p:sp>
          <p:nvSpPr>
            <p:cNvPr name="Freeform 358" id="35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359" id="359"/>
          <p:cNvGrpSpPr/>
          <p:nvPr/>
        </p:nvGrpSpPr>
        <p:grpSpPr>
          <a:xfrm rot="0">
            <a:off x="7500280" y="7206529"/>
            <a:ext cx="417290" cy="308848"/>
            <a:chOff x="0" y="0"/>
            <a:chExt cx="556387" cy="411797"/>
          </a:xfrm>
        </p:grpSpPr>
        <p:sp>
          <p:nvSpPr>
            <p:cNvPr name="Freeform 360" id="36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361" id="361"/>
          <p:cNvGrpSpPr/>
          <p:nvPr/>
        </p:nvGrpSpPr>
        <p:grpSpPr>
          <a:xfrm rot="0">
            <a:off x="7917571" y="7206529"/>
            <a:ext cx="417290" cy="308848"/>
            <a:chOff x="0" y="0"/>
            <a:chExt cx="556387" cy="411797"/>
          </a:xfrm>
        </p:grpSpPr>
        <p:sp>
          <p:nvSpPr>
            <p:cNvPr name="Freeform 362" id="36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363" id="363"/>
          <p:cNvGrpSpPr/>
          <p:nvPr/>
        </p:nvGrpSpPr>
        <p:grpSpPr>
          <a:xfrm rot="0">
            <a:off x="8334870" y="7206529"/>
            <a:ext cx="417290" cy="308848"/>
            <a:chOff x="0" y="0"/>
            <a:chExt cx="556387" cy="411797"/>
          </a:xfrm>
        </p:grpSpPr>
        <p:sp>
          <p:nvSpPr>
            <p:cNvPr name="Freeform 364" id="36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65" id="365"/>
          <p:cNvGrpSpPr/>
          <p:nvPr/>
        </p:nvGrpSpPr>
        <p:grpSpPr>
          <a:xfrm rot="0">
            <a:off x="8752161" y="7206529"/>
            <a:ext cx="417290" cy="308848"/>
            <a:chOff x="0" y="0"/>
            <a:chExt cx="556387" cy="411797"/>
          </a:xfrm>
        </p:grpSpPr>
        <p:sp>
          <p:nvSpPr>
            <p:cNvPr name="Freeform 366" id="36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367" id="367"/>
          <p:cNvGrpSpPr/>
          <p:nvPr/>
        </p:nvGrpSpPr>
        <p:grpSpPr>
          <a:xfrm rot="0">
            <a:off x="9169451" y="7206529"/>
            <a:ext cx="417290" cy="308848"/>
            <a:chOff x="0" y="0"/>
            <a:chExt cx="556387" cy="411797"/>
          </a:xfrm>
        </p:grpSpPr>
        <p:sp>
          <p:nvSpPr>
            <p:cNvPr name="Freeform 368" id="36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369" id="369"/>
          <p:cNvGrpSpPr/>
          <p:nvPr/>
        </p:nvGrpSpPr>
        <p:grpSpPr>
          <a:xfrm rot="0">
            <a:off x="9586741" y="7206529"/>
            <a:ext cx="417290" cy="308848"/>
            <a:chOff x="0" y="0"/>
            <a:chExt cx="556387" cy="411797"/>
          </a:xfrm>
        </p:grpSpPr>
        <p:sp>
          <p:nvSpPr>
            <p:cNvPr name="Freeform 370" id="37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71" id="371"/>
          <p:cNvGrpSpPr/>
          <p:nvPr/>
        </p:nvGrpSpPr>
        <p:grpSpPr>
          <a:xfrm rot="0">
            <a:off x="10004041" y="7206529"/>
            <a:ext cx="417290" cy="308848"/>
            <a:chOff x="0" y="0"/>
            <a:chExt cx="556387" cy="411797"/>
          </a:xfrm>
        </p:grpSpPr>
        <p:sp>
          <p:nvSpPr>
            <p:cNvPr name="Freeform 372" id="37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73" id="373"/>
          <p:cNvGrpSpPr/>
          <p:nvPr/>
        </p:nvGrpSpPr>
        <p:grpSpPr>
          <a:xfrm rot="0">
            <a:off x="10421331" y="7206529"/>
            <a:ext cx="417290" cy="308848"/>
            <a:chOff x="0" y="0"/>
            <a:chExt cx="556387" cy="411797"/>
          </a:xfrm>
        </p:grpSpPr>
        <p:sp>
          <p:nvSpPr>
            <p:cNvPr name="Freeform 374" id="37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75" id="375"/>
          <p:cNvGrpSpPr/>
          <p:nvPr/>
        </p:nvGrpSpPr>
        <p:grpSpPr>
          <a:xfrm rot="0">
            <a:off x="10838621" y="7206529"/>
            <a:ext cx="417290" cy="308848"/>
            <a:chOff x="0" y="0"/>
            <a:chExt cx="556387" cy="411797"/>
          </a:xfrm>
        </p:grpSpPr>
        <p:sp>
          <p:nvSpPr>
            <p:cNvPr name="Freeform 376" id="37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77" id="377"/>
          <p:cNvGrpSpPr/>
          <p:nvPr/>
        </p:nvGrpSpPr>
        <p:grpSpPr>
          <a:xfrm rot="0">
            <a:off x="823608" y="7515377"/>
            <a:ext cx="417290" cy="308848"/>
            <a:chOff x="0" y="0"/>
            <a:chExt cx="556387" cy="411797"/>
          </a:xfrm>
        </p:grpSpPr>
        <p:sp>
          <p:nvSpPr>
            <p:cNvPr name="Freeform 378" id="37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379" id="379"/>
          <p:cNvGrpSpPr/>
          <p:nvPr/>
        </p:nvGrpSpPr>
        <p:grpSpPr>
          <a:xfrm rot="0">
            <a:off x="1240898" y="7515377"/>
            <a:ext cx="417290" cy="308848"/>
            <a:chOff x="0" y="0"/>
            <a:chExt cx="556387" cy="411797"/>
          </a:xfrm>
        </p:grpSpPr>
        <p:sp>
          <p:nvSpPr>
            <p:cNvPr name="Freeform 380" id="38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81" id="381"/>
          <p:cNvGrpSpPr/>
          <p:nvPr/>
        </p:nvGrpSpPr>
        <p:grpSpPr>
          <a:xfrm rot="0">
            <a:off x="1658188" y="7515377"/>
            <a:ext cx="417290" cy="308848"/>
            <a:chOff x="0" y="0"/>
            <a:chExt cx="556387" cy="411797"/>
          </a:xfrm>
        </p:grpSpPr>
        <p:sp>
          <p:nvSpPr>
            <p:cNvPr name="Freeform 382" id="38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83" id="383"/>
          <p:cNvGrpSpPr/>
          <p:nvPr/>
        </p:nvGrpSpPr>
        <p:grpSpPr>
          <a:xfrm rot="0">
            <a:off x="2075478" y="7515377"/>
            <a:ext cx="417290" cy="308848"/>
            <a:chOff x="0" y="0"/>
            <a:chExt cx="556387" cy="411797"/>
          </a:xfrm>
        </p:grpSpPr>
        <p:sp>
          <p:nvSpPr>
            <p:cNvPr name="Freeform 384" id="38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85" id="385"/>
          <p:cNvGrpSpPr/>
          <p:nvPr/>
        </p:nvGrpSpPr>
        <p:grpSpPr>
          <a:xfrm rot="0">
            <a:off x="2492769" y="7515377"/>
            <a:ext cx="417290" cy="308848"/>
            <a:chOff x="0" y="0"/>
            <a:chExt cx="556387" cy="411797"/>
          </a:xfrm>
        </p:grpSpPr>
        <p:sp>
          <p:nvSpPr>
            <p:cNvPr name="Freeform 386" id="38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87" id="387"/>
          <p:cNvGrpSpPr/>
          <p:nvPr/>
        </p:nvGrpSpPr>
        <p:grpSpPr>
          <a:xfrm rot="0">
            <a:off x="2910068" y="7515377"/>
            <a:ext cx="417290" cy="308848"/>
            <a:chOff x="0" y="0"/>
            <a:chExt cx="556387" cy="411797"/>
          </a:xfrm>
        </p:grpSpPr>
        <p:sp>
          <p:nvSpPr>
            <p:cNvPr name="Freeform 388" id="38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89" id="389"/>
          <p:cNvGrpSpPr/>
          <p:nvPr/>
        </p:nvGrpSpPr>
        <p:grpSpPr>
          <a:xfrm rot="0">
            <a:off x="3327359" y="7515377"/>
            <a:ext cx="417290" cy="308848"/>
            <a:chOff x="0" y="0"/>
            <a:chExt cx="556387" cy="411797"/>
          </a:xfrm>
        </p:grpSpPr>
        <p:sp>
          <p:nvSpPr>
            <p:cNvPr name="Freeform 390" id="39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91" id="391"/>
          <p:cNvGrpSpPr/>
          <p:nvPr/>
        </p:nvGrpSpPr>
        <p:grpSpPr>
          <a:xfrm rot="0">
            <a:off x="3744649" y="7515377"/>
            <a:ext cx="417290" cy="308848"/>
            <a:chOff x="0" y="0"/>
            <a:chExt cx="556387" cy="411797"/>
          </a:xfrm>
        </p:grpSpPr>
        <p:sp>
          <p:nvSpPr>
            <p:cNvPr name="Freeform 392" id="39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93" id="393"/>
          <p:cNvGrpSpPr/>
          <p:nvPr/>
        </p:nvGrpSpPr>
        <p:grpSpPr>
          <a:xfrm rot="0">
            <a:off x="4161939" y="7515377"/>
            <a:ext cx="417290" cy="308848"/>
            <a:chOff x="0" y="0"/>
            <a:chExt cx="556387" cy="411797"/>
          </a:xfrm>
        </p:grpSpPr>
        <p:sp>
          <p:nvSpPr>
            <p:cNvPr name="Freeform 394" id="39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95" id="395"/>
          <p:cNvGrpSpPr/>
          <p:nvPr/>
        </p:nvGrpSpPr>
        <p:grpSpPr>
          <a:xfrm rot="0">
            <a:off x="4579239" y="7515377"/>
            <a:ext cx="417290" cy="308848"/>
            <a:chOff x="0" y="0"/>
            <a:chExt cx="556387" cy="411797"/>
          </a:xfrm>
        </p:grpSpPr>
        <p:sp>
          <p:nvSpPr>
            <p:cNvPr name="Freeform 396" id="39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397" id="397"/>
          <p:cNvGrpSpPr/>
          <p:nvPr/>
        </p:nvGrpSpPr>
        <p:grpSpPr>
          <a:xfrm rot="0">
            <a:off x="4996529" y="7515377"/>
            <a:ext cx="417290" cy="308848"/>
            <a:chOff x="0" y="0"/>
            <a:chExt cx="556387" cy="411797"/>
          </a:xfrm>
        </p:grpSpPr>
        <p:sp>
          <p:nvSpPr>
            <p:cNvPr name="Freeform 398" id="39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399" id="399"/>
          <p:cNvGrpSpPr/>
          <p:nvPr/>
        </p:nvGrpSpPr>
        <p:grpSpPr>
          <a:xfrm rot="0">
            <a:off x="5413820" y="7515377"/>
            <a:ext cx="417290" cy="308848"/>
            <a:chOff x="0" y="0"/>
            <a:chExt cx="556387" cy="411797"/>
          </a:xfrm>
        </p:grpSpPr>
        <p:sp>
          <p:nvSpPr>
            <p:cNvPr name="Freeform 400" id="40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01" id="401"/>
          <p:cNvGrpSpPr/>
          <p:nvPr/>
        </p:nvGrpSpPr>
        <p:grpSpPr>
          <a:xfrm rot="0">
            <a:off x="5831110" y="7515377"/>
            <a:ext cx="417290" cy="308848"/>
            <a:chOff x="0" y="0"/>
            <a:chExt cx="556387" cy="411797"/>
          </a:xfrm>
        </p:grpSpPr>
        <p:sp>
          <p:nvSpPr>
            <p:cNvPr name="Freeform 402" id="40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03" id="403"/>
          <p:cNvGrpSpPr/>
          <p:nvPr/>
        </p:nvGrpSpPr>
        <p:grpSpPr>
          <a:xfrm rot="0">
            <a:off x="6248400" y="7515377"/>
            <a:ext cx="417290" cy="308848"/>
            <a:chOff x="0" y="0"/>
            <a:chExt cx="556387" cy="411797"/>
          </a:xfrm>
        </p:grpSpPr>
        <p:sp>
          <p:nvSpPr>
            <p:cNvPr name="Freeform 404" id="40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05" id="405"/>
          <p:cNvGrpSpPr/>
          <p:nvPr/>
        </p:nvGrpSpPr>
        <p:grpSpPr>
          <a:xfrm rot="0">
            <a:off x="6665700" y="7515377"/>
            <a:ext cx="417290" cy="308848"/>
            <a:chOff x="0" y="0"/>
            <a:chExt cx="556387" cy="411797"/>
          </a:xfrm>
        </p:grpSpPr>
        <p:sp>
          <p:nvSpPr>
            <p:cNvPr name="Freeform 406" id="40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07" id="407"/>
          <p:cNvGrpSpPr/>
          <p:nvPr/>
        </p:nvGrpSpPr>
        <p:grpSpPr>
          <a:xfrm rot="0">
            <a:off x="7082990" y="7515377"/>
            <a:ext cx="417290" cy="308848"/>
            <a:chOff x="0" y="0"/>
            <a:chExt cx="556387" cy="411797"/>
          </a:xfrm>
        </p:grpSpPr>
        <p:sp>
          <p:nvSpPr>
            <p:cNvPr name="Freeform 408" id="40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09" id="409"/>
          <p:cNvGrpSpPr/>
          <p:nvPr/>
        </p:nvGrpSpPr>
        <p:grpSpPr>
          <a:xfrm rot="0">
            <a:off x="7500280" y="7515377"/>
            <a:ext cx="417290" cy="308848"/>
            <a:chOff x="0" y="0"/>
            <a:chExt cx="556387" cy="411797"/>
          </a:xfrm>
        </p:grpSpPr>
        <p:sp>
          <p:nvSpPr>
            <p:cNvPr name="Freeform 410" id="41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11" id="411"/>
          <p:cNvGrpSpPr/>
          <p:nvPr/>
        </p:nvGrpSpPr>
        <p:grpSpPr>
          <a:xfrm rot="0">
            <a:off x="7917571" y="7515377"/>
            <a:ext cx="417290" cy="308848"/>
            <a:chOff x="0" y="0"/>
            <a:chExt cx="556387" cy="411797"/>
          </a:xfrm>
        </p:grpSpPr>
        <p:sp>
          <p:nvSpPr>
            <p:cNvPr name="Freeform 412" id="41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13" id="413"/>
          <p:cNvGrpSpPr/>
          <p:nvPr/>
        </p:nvGrpSpPr>
        <p:grpSpPr>
          <a:xfrm rot="0">
            <a:off x="8334870" y="7515377"/>
            <a:ext cx="417290" cy="308848"/>
            <a:chOff x="0" y="0"/>
            <a:chExt cx="556387" cy="411797"/>
          </a:xfrm>
        </p:grpSpPr>
        <p:sp>
          <p:nvSpPr>
            <p:cNvPr name="Freeform 414" id="41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415" id="415"/>
          <p:cNvGrpSpPr/>
          <p:nvPr/>
        </p:nvGrpSpPr>
        <p:grpSpPr>
          <a:xfrm rot="0">
            <a:off x="8752161" y="7515377"/>
            <a:ext cx="417290" cy="308848"/>
            <a:chOff x="0" y="0"/>
            <a:chExt cx="556387" cy="411797"/>
          </a:xfrm>
        </p:grpSpPr>
        <p:sp>
          <p:nvSpPr>
            <p:cNvPr name="Freeform 416" id="41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17" id="417"/>
          <p:cNvGrpSpPr/>
          <p:nvPr/>
        </p:nvGrpSpPr>
        <p:grpSpPr>
          <a:xfrm rot="0">
            <a:off x="9169451" y="7515377"/>
            <a:ext cx="417290" cy="308848"/>
            <a:chOff x="0" y="0"/>
            <a:chExt cx="556387" cy="411797"/>
          </a:xfrm>
        </p:grpSpPr>
        <p:sp>
          <p:nvSpPr>
            <p:cNvPr name="Freeform 418" id="41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19" id="419"/>
          <p:cNvGrpSpPr/>
          <p:nvPr/>
        </p:nvGrpSpPr>
        <p:grpSpPr>
          <a:xfrm rot="0">
            <a:off x="9586741" y="7515377"/>
            <a:ext cx="417290" cy="308848"/>
            <a:chOff x="0" y="0"/>
            <a:chExt cx="556387" cy="411797"/>
          </a:xfrm>
        </p:grpSpPr>
        <p:sp>
          <p:nvSpPr>
            <p:cNvPr name="Freeform 420" id="42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21" id="421"/>
          <p:cNvGrpSpPr/>
          <p:nvPr/>
        </p:nvGrpSpPr>
        <p:grpSpPr>
          <a:xfrm rot="0">
            <a:off x="10004041" y="7515377"/>
            <a:ext cx="417290" cy="308848"/>
            <a:chOff x="0" y="0"/>
            <a:chExt cx="556387" cy="411797"/>
          </a:xfrm>
        </p:grpSpPr>
        <p:sp>
          <p:nvSpPr>
            <p:cNvPr name="Freeform 422" id="42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23" id="423"/>
          <p:cNvGrpSpPr/>
          <p:nvPr/>
        </p:nvGrpSpPr>
        <p:grpSpPr>
          <a:xfrm rot="0">
            <a:off x="10421331" y="7515377"/>
            <a:ext cx="417290" cy="308848"/>
            <a:chOff x="0" y="0"/>
            <a:chExt cx="556387" cy="411797"/>
          </a:xfrm>
        </p:grpSpPr>
        <p:sp>
          <p:nvSpPr>
            <p:cNvPr name="Freeform 424" id="42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25" id="425"/>
          <p:cNvGrpSpPr/>
          <p:nvPr/>
        </p:nvGrpSpPr>
        <p:grpSpPr>
          <a:xfrm rot="0">
            <a:off x="10838621" y="7515377"/>
            <a:ext cx="417290" cy="308848"/>
            <a:chOff x="0" y="0"/>
            <a:chExt cx="556387" cy="411797"/>
          </a:xfrm>
        </p:grpSpPr>
        <p:sp>
          <p:nvSpPr>
            <p:cNvPr name="Freeform 426" id="42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427" id="427"/>
          <p:cNvGrpSpPr/>
          <p:nvPr/>
        </p:nvGrpSpPr>
        <p:grpSpPr>
          <a:xfrm rot="0">
            <a:off x="823608" y="7824235"/>
            <a:ext cx="417290" cy="308848"/>
            <a:chOff x="0" y="0"/>
            <a:chExt cx="556387" cy="411797"/>
          </a:xfrm>
        </p:grpSpPr>
        <p:sp>
          <p:nvSpPr>
            <p:cNvPr name="Freeform 428" id="42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29" id="429"/>
          <p:cNvGrpSpPr/>
          <p:nvPr/>
        </p:nvGrpSpPr>
        <p:grpSpPr>
          <a:xfrm rot="0">
            <a:off x="1240898" y="7824235"/>
            <a:ext cx="417290" cy="308848"/>
            <a:chOff x="0" y="0"/>
            <a:chExt cx="556387" cy="411797"/>
          </a:xfrm>
        </p:grpSpPr>
        <p:sp>
          <p:nvSpPr>
            <p:cNvPr name="Freeform 430" id="43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31" id="431"/>
          <p:cNvGrpSpPr/>
          <p:nvPr/>
        </p:nvGrpSpPr>
        <p:grpSpPr>
          <a:xfrm rot="0">
            <a:off x="1658188" y="7824235"/>
            <a:ext cx="417290" cy="308848"/>
            <a:chOff x="0" y="0"/>
            <a:chExt cx="556387" cy="411797"/>
          </a:xfrm>
        </p:grpSpPr>
        <p:sp>
          <p:nvSpPr>
            <p:cNvPr name="Freeform 432" id="43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433" id="433"/>
          <p:cNvGrpSpPr/>
          <p:nvPr/>
        </p:nvGrpSpPr>
        <p:grpSpPr>
          <a:xfrm rot="0">
            <a:off x="2075478" y="7824235"/>
            <a:ext cx="417290" cy="308848"/>
            <a:chOff x="0" y="0"/>
            <a:chExt cx="556387" cy="411797"/>
          </a:xfrm>
        </p:grpSpPr>
        <p:sp>
          <p:nvSpPr>
            <p:cNvPr name="Freeform 434" id="43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435" id="435"/>
          <p:cNvGrpSpPr/>
          <p:nvPr/>
        </p:nvGrpSpPr>
        <p:grpSpPr>
          <a:xfrm rot="0">
            <a:off x="2492769" y="7824235"/>
            <a:ext cx="417290" cy="308848"/>
            <a:chOff x="0" y="0"/>
            <a:chExt cx="556387" cy="411797"/>
          </a:xfrm>
        </p:grpSpPr>
        <p:sp>
          <p:nvSpPr>
            <p:cNvPr name="Freeform 436" id="43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437" id="437"/>
          <p:cNvGrpSpPr/>
          <p:nvPr/>
        </p:nvGrpSpPr>
        <p:grpSpPr>
          <a:xfrm rot="0">
            <a:off x="2910068" y="7824235"/>
            <a:ext cx="417290" cy="308848"/>
            <a:chOff x="0" y="0"/>
            <a:chExt cx="556387" cy="411797"/>
          </a:xfrm>
        </p:grpSpPr>
        <p:sp>
          <p:nvSpPr>
            <p:cNvPr name="Freeform 438" id="43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439" id="439"/>
          <p:cNvGrpSpPr/>
          <p:nvPr/>
        </p:nvGrpSpPr>
        <p:grpSpPr>
          <a:xfrm rot="0">
            <a:off x="3327359" y="7824235"/>
            <a:ext cx="417290" cy="308848"/>
            <a:chOff x="0" y="0"/>
            <a:chExt cx="556387" cy="411797"/>
          </a:xfrm>
        </p:grpSpPr>
        <p:sp>
          <p:nvSpPr>
            <p:cNvPr name="Freeform 440" id="44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41" id="441"/>
          <p:cNvGrpSpPr/>
          <p:nvPr/>
        </p:nvGrpSpPr>
        <p:grpSpPr>
          <a:xfrm rot="0">
            <a:off x="3744649" y="7824235"/>
            <a:ext cx="417290" cy="308848"/>
            <a:chOff x="0" y="0"/>
            <a:chExt cx="556387" cy="411797"/>
          </a:xfrm>
        </p:grpSpPr>
        <p:sp>
          <p:nvSpPr>
            <p:cNvPr name="Freeform 442" id="44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43" id="443"/>
          <p:cNvGrpSpPr/>
          <p:nvPr/>
        </p:nvGrpSpPr>
        <p:grpSpPr>
          <a:xfrm rot="0">
            <a:off x="4161939" y="7824235"/>
            <a:ext cx="417290" cy="308848"/>
            <a:chOff x="0" y="0"/>
            <a:chExt cx="556387" cy="411797"/>
          </a:xfrm>
        </p:grpSpPr>
        <p:sp>
          <p:nvSpPr>
            <p:cNvPr name="Freeform 444" id="44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45" id="445"/>
          <p:cNvGrpSpPr/>
          <p:nvPr/>
        </p:nvGrpSpPr>
        <p:grpSpPr>
          <a:xfrm rot="0">
            <a:off x="4579239" y="7824235"/>
            <a:ext cx="417290" cy="308848"/>
            <a:chOff x="0" y="0"/>
            <a:chExt cx="556387" cy="411797"/>
          </a:xfrm>
        </p:grpSpPr>
        <p:sp>
          <p:nvSpPr>
            <p:cNvPr name="Freeform 446" id="44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47" id="447"/>
          <p:cNvGrpSpPr/>
          <p:nvPr/>
        </p:nvGrpSpPr>
        <p:grpSpPr>
          <a:xfrm rot="0">
            <a:off x="4996529" y="7824235"/>
            <a:ext cx="417290" cy="308848"/>
            <a:chOff x="0" y="0"/>
            <a:chExt cx="556387" cy="411797"/>
          </a:xfrm>
        </p:grpSpPr>
        <p:sp>
          <p:nvSpPr>
            <p:cNvPr name="Freeform 448" id="44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49" id="449"/>
          <p:cNvGrpSpPr/>
          <p:nvPr/>
        </p:nvGrpSpPr>
        <p:grpSpPr>
          <a:xfrm rot="0">
            <a:off x="5413820" y="7824235"/>
            <a:ext cx="417290" cy="308848"/>
            <a:chOff x="0" y="0"/>
            <a:chExt cx="556387" cy="411797"/>
          </a:xfrm>
        </p:grpSpPr>
        <p:sp>
          <p:nvSpPr>
            <p:cNvPr name="Freeform 450" id="45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51" id="451"/>
          <p:cNvGrpSpPr/>
          <p:nvPr/>
        </p:nvGrpSpPr>
        <p:grpSpPr>
          <a:xfrm rot="0">
            <a:off x="5831110" y="7824235"/>
            <a:ext cx="417290" cy="308848"/>
            <a:chOff x="0" y="0"/>
            <a:chExt cx="556387" cy="411797"/>
          </a:xfrm>
        </p:grpSpPr>
        <p:sp>
          <p:nvSpPr>
            <p:cNvPr name="Freeform 452" id="45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453" id="453"/>
          <p:cNvGrpSpPr/>
          <p:nvPr/>
        </p:nvGrpSpPr>
        <p:grpSpPr>
          <a:xfrm rot="0">
            <a:off x="6248400" y="7824235"/>
            <a:ext cx="417290" cy="308848"/>
            <a:chOff x="0" y="0"/>
            <a:chExt cx="556387" cy="411797"/>
          </a:xfrm>
        </p:grpSpPr>
        <p:sp>
          <p:nvSpPr>
            <p:cNvPr name="Freeform 454" id="45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55" id="455"/>
          <p:cNvGrpSpPr/>
          <p:nvPr/>
        </p:nvGrpSpPr>
        <p:grpSpPr>
          <a:xfrm rot="0">
            <a:off x="6665700" y="7824235"/>
            <a:ext cx="417290" cy="308848"/>
            <a:chOff x="0" y="0"/>
            <a:chExt cx="556387" cy="411797"/>
          </a:xfrm>
        </p:grpSpPr>
        <p:sp>
          <p:nvSpPr>
            <p:cNvPr name="Freeform 456" id="45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57" id="457"/>
          <p:cNvGrpSpPr/>
          <p:nvPr/>
        </p:nvGrpSpPr>
        <p:grpSpPr>
          <a:xfrm rot="0">
            <a:off x="7082990" y="7824235"/>
            <a:ext cx="417290" cy="308848"/>
            <a:chOff x="0" y="0"/>
            <a:chExt cx="556387" cy="411797"/>
          </a:xfrm>
        </p:grpSpPr>
        <p:sp>
          <p:nvSpPr>
            <p:cNvPr name="Freeform 458" id="45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59" id="459"/>
          <p:cNvGrpSpPr/>
          <p:nvPr/>
        </p:nvGrpSpPr>
        <p:grpSpPr>
          <a:xfrm rot="0">
            <a:off x="7500280" y="7824235"/>
            <a:ext cx="417290" cy="308848"/>
            <a:chOff x="0" y="0"/>
            <a:chExt cx="556387" cy="411797"/>
          </a:xfrm>
        </p:grpSpPr>
        <p:sp>
          <p:nvSpPr>
            <p:cNvPr name="Freeform 460" id="46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61" id="461"/>
          <p:cNvGrpSpPr/>
          <p:nvPr/>
        </p:nvGrpSpPr>
        <p:grpSpPr>
          <a:xfrm rot="0">
            <a:off x="7917571" y="7824235"/>
            <a:ext cx="417290" cy="308848"/>
            <a:chOff x="0" y="0"/>
            <a:chExt cx="556387" cy="411797"/>
          </a:xfrm>
        </p:grpSpPr>
        <p:sp>
          <p:nvSpPr>
            <p:cNvPr name="Freeform 462" id="46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63" id="463"/>
          <p:cNvGrpSpPr/>
          <p:nvPr/>
        </p:nvGrpSpPr>
        <p:grpSpPr>
          <a:xfrm rot="0">
            <a:off x="8334870" y="7824235"/>
            <a:ext cx="417290" cy="308848"/>
            <a:chOff x="0" y="0"/>
            <a:chExt cx="556387" cy="411797"/>
          </a:xfrm>
        </p:grpSpPr>
        <p:sp>
          <p:nvSpPr>
            <p:cNvPr name="Freeform 464" id="46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65" id="465"/>
          <p:cNvGrpSpPr/>
          <p:nvPr/>
        </p:nvGrpSpPr>
        <p:grpSpPr>
          <a:xfrm rot="0">
            <a:off x="8752161" y="7824235"/>
            <a:ext cx="417290" cy="308848"/>
            <a:chOff x="0" y="0"/>
            <a:chExt cx="556387" cy="411797"/>
          </a:xfrm>
        </p:grpSpPr>
        <p:sp>
          <p:nvSpPr>
            <p:cNvPr name="Freeform 466" id="46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67" id="467"/>
          <p:cNvGrpSpPr/>
          <p:nvPr/>
        </p:nvGrpSpPr>
        <p:grpSpPr>
          <a:xfrm rot="0">
            <a:off x="9169451" y="7824235"/>
            <a:ext cx="417290" cy="308848"/>
            <a:chOff x="0" y="0"/>
            <a:chExt cx="556387" cy="411797"/>
          </a:xfrm>
        </p:grpSpPr>
        <p:sp>
          <p:nvSpPr>
            <p:cNvPr name="Freeform 468" id="46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69" id="469"/>
          <p:cNvGrpSpPr/>
          <p:nvPr/>
        </p:nvGrpSpPr>
        <p:grpSpPr>
          <a:xfrm rot="0">
            <a:off x="9586741" y="7824235"/>
            <a:ext cx="417290" cy="308848"/>
            <a:chOff x="0" y="0"/>
            <a:chExt cx="556387" cy="411797"/>
          </a:xfrm>
        </p:grpSpPr>
        <p:sp>
          <p:nvSpPr>
            <p:cNvPr name="Freeform 470" id="47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71" id="471"/>
          <p:cNvGrpSpPr/>
          <p:nvPr/>
        </p:nvGrpSpPr>
        <p:grpSpPr>
          <a:xfrm rot="0">
            <a:off x="10004041" y="7824235"/>
            <a:ext cx="417290" cy="308848"/>
            <a:chOff x="0" y="0"/>
            <a:chExt cx="556387" cy="411797"/>
          </a:xfrm>
        </p:grpSpPr>
        <p:sp>
          <p:nvSpPr>
            <p:cNvPr name="Freeform 472" id="47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73" id="473"/>
          <p:cNvGrpSpPr/>
          <p:nvPr/>
        </p:nvGrpSpPr>
        <p:grpSpPr>
          <a:xfrm rot="0">
            <a:off x="10421331" y="7824235"/>
            <a:ext cx="417290" cy="308848"/>
            <a:chOff x="0" y="0"/>
            <a:chExt cx="556387" cy="411797"/>
          </a:xfrm>
        </p:grpSpPr>
        <p:sp>
          <p:nvSpPr>
            <p:cNvPr name="Freeform 474" id="47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75" id="475"/>
          <p:cNvGrpSpPr/>
          <p:nvPr/>
        </p:nvGrpSpPr>
        <p:grpSpPr>
          <a:xfrm rot="0">
            <a:off x="10838621" y="7824235"/>
            <a:ext cx="417290" cy="308848"/>
            <a:chOff x="0" y="0"/>
            <a:chExt cx="556387" cy="411797"/>
          </a:xfrm>
        </p:grpSpPr>
        <p:sp>
          <p:nvSpPr>
            <p:cNvPr name="Freeform 476" id="47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77" id="477"/>
          <p:cNvGrpSpPr/>
          <p:nvPr/>
        </p:nvGrpSpPr>
        <p:grpSpPr>
          <a:xfrm rot="0">
            <a:off x="823608" y="8133083"/>
            <a:ext cx="417290" cy="308848"/>
            <a:chOff x="0" y="0"/>
            <a:chExt cx="556387" cy="411797"/>
          </a:xfrm>
        </p:grpSpPr>
        <p:sp>
          <p:nvSpPr>
            <p:cNvPr name="Freeform 478" id="47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79" id="479"/>
          <p:cNvGrpSpPr/>
          <p:nvPr/>
        </p:nvGrpSpPr>
        <p:grpSpPr>
          <a:xfrm rot="0">
            <a:off x="1240898" y="8133083"/>
            <a:ext cx="417290" cy="308848"/>
            <a:chOff x="0" y="0"/>
            <a:chExt cx="556387" cy="411797"/>
          </a:xfrm>
        </p:grpSpPr>
        <p:sp>
          <p:nvSpPr>
            <p:cNvPr name="Freeform 480" id="48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81" id="481"/>
          <p:cNvGrpSpPr/>
          <p:nvPr/>
        </p:nvGrpSpPr>
        <p:grpSpPr>
          <a:xfrm rot="0">
            <a:off x="1658188" y="8133083"/>
            <a:ext cx="417290" cy="308848"/>
            <a:chOff x="0" y="0"/>
            <a:chExt cx="556387" cy="411797"/>
          </a:xfrm>
        </p:grpSpPr>
        <p:sp>
          <p:nvSpPr>
            <p:cNvPr name="Freeform 482" id="48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83" id="483"/>
          <p:cNvGrpSpPr/>
          <p:nvPr/>
        </p:nvGrpSpPr>
        <p:grpSpPr>
          <a:xfrm rot="0">
            <a:off x="2075478" y="8133083"/>
            <a:ext cx="417290" cy="308848"/>
            <a:chOff x="0" y="0"/>
            <a:chExt cx="556387" cy="411797"/>
          </a:xfrm>
        </p:grpSpPr>
        <p:sp>
          <p:nvSpPr>
            <p:cNvPr name="Freeform 484" id="48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85" id="485"/>
          <p:cNvGrpSpPr/>
          <p:nvPr/>
        </p:nvGrpSpPr>
        <p:grpSpPr>
          <a:xfrm rot="0">
            <a:off x="2492769" y="8133083"/>
            <a:ext cx="417290" cy="308848"/>
            <a:chOff x="0" y="0"/>
            <a:chExt cx="556387" cy="411797"/>
          </a:xfrm>
        </p:grpSpPr>
        <p:sp>
          <p:nvSpPr>
            <p:cNvPr name="Freeform 486" id="48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87" id="487"/>
          <p:cNvGrpSpPr/>
          <p:nvPr/>
        </p:nvGrpSpPr>
        <p:grpSpPr>
          <a:xfrm rot="0">
            <a:off x="2910068" y="8133083"/>
            <a:ext cx="417290" cy="308848"/>
            <a:chOff x="0" y="0"/>
            <a:chExt cx="556387" cy="411797"/>
          </a:xfrm>
        </p:grpSpPr>
        <p:sp>
          <p:nvSpPr>
            <p:cNvPr name="Freeform 488" id="48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89" id="489"/>
          <p:cNvGrpSpPr/>
          <p:nvPr/>
        </p:nvGrpSpPr>
        <p:grpSpPr>
          <a:xfrm rot="0">
            <a:off x="3327359" y="8133083"/>
            <a:ext cx="417290" cy="308848"/>
            <a:chOff x="0" y="0"/>
            <a:chExt cx="556387" cy="411797"/>
          </a:xfrm>
        </p:grpSpPr>
        <p:sp>
          <p:nvSpPr>
            <p:cNvPr name="Freeform 490" id="49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91" id="491"/>
          <p:cNvGrpSpPr/>
          <p:nvPr/>
        </p:nvGrpSpPr>
        <p:grpSpPr>
          <a:xfrm rot="0">
            <a:off x="3744649" y="8133083"/>
            <a:ext cx="417290" cy="308848"/>
            <a:chOff x="0" y="0"/>
            <a:chExt cx="556387" cy="411797"/>
          </a:xfrm>
        </p:grpSpPr>
        <p:sp>
          <p:nvSpPr>
            <p:cNvPr name="Freeform 492" id="49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93" id="493"/>
          <p:cNvGrpSpPr/>
          <p:nvPr/>
        </p:nvGrpSpPr>
        <p:grpSpPr>
          <a:xfrm rot="0">
            <a:off x="4161939" y="8133083"/>
            <a:ext cx="417290" cy="308848"/>
            <a:chOff x="0" y="0"/>
            <a:chExt cx="556387" cy="411797"/>
          </a:xfrm>
        </p:grpSpPr>
        <p:sp>
          <p:nvSpPr>
            <p:cNvPr name="Freeform 494" id="49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495" id="495"/>
          <p:cNvGrpSpPr/>
          <p:nvPr/>
        </p:nvGrpSpPr>
        <p:grpSpPr>
          <a:xfrm rot="0">
            <a:off x="4579239" y="8133083"/>
            <a:ext cx="417290" cy="308848"/>
            <a:chOff x="0" y="0"/>
            <a:chExt cx="556387" cy="411797"/>
          </a:xfrm>
        </p:grpSpPr>
        <p:sp>
          <p:nvSpPr>
            <p:cNvPr name="Freeform 496" id="49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97" id="497"/>
          <p:cNvGrpSpPr/>
          <p:nvPr/>
        </p:nvGrpSpPr>
        <p:grpSpPr>
          <a:xfrm rot="0">
            <a:off x="4996529" y="8133083"/>
            <a:ext cx="417290" cy="308848"/>
            <a:chOff x="0" y="0"/>
            <a:chExt cx="556387" cy="411797"/>
          </a:xfrm>
        </p:grpSpPr>
        <p:sp>
          <p:nvSpPr>
            <p:cNvPr name="Freeform 498" id="49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499" id="499"/>
          <p:cNvGrpSpPr/>
          <p:nvPr/>
        </p:nvGrpSpPr>
        <p:grpSpPr>
          <a:xfrm rot="0">
            <a:off x="5413820" y="8133083"/>
            <a:ext cx="417290" cy="308848"/>
            <a:chOff x="0" y="0"/>
            <a:chExt cx="556387" cy="411797"/>
          </a:xfrm>
        </p:grpSpPr>
        <p:sp>
          <p:nvSpPr>
            <p:cNvPr name="Freeform 500" id="50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01" id="501"/>
          <p:cNvGrpSpPr/>
          <p:nvPr/>
        </p:nvGrpSpPr>
        <p:grpSpPr>
          <a:xfrm rot="0">
            <a:off x="5831110" y="8133083"/>
            <a:ext cx="417290" cy="308848"/>
            <a:chOff x="0" y="0"/>
            <a:chExt cx="556387" cy="411797"/>
          </a:xfrm>
        </p:grpSpPr>
        <p:sp>
          <p:nvSpPr>
            <p:cNvPr name="Freeform 502" id="50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03" id="503"/>
          <p:cNvGrpSpPr/>
          <p:nvPr/>
        </p:nvGrpSpPr>
        <p:grpSpPr>
          <a:xfrm rot="0">
            <a:off x="6248400" y="8133083"/>
            <a:ext cx="417290" cy="308848"/>
            <a:chOff x="0" y="0"/>
            <a:chExt cx="556387" cy="411797"/>
          </a:xfrm>
        </p:grpSpPr>
        <p:sp>
          <p:nvSpPr>
            <p:cNvPr name="Freeform 504" id="50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05" id="505"/>
          <p:cNvGrpSpPr/>
          <p:nvPr/>
        </p:nvGrpSpPr>
        <p:grpSpPr>
          <a:xfrm rot="0">
            <a:off x="6665700" y="8133083"/>
            <a:ext cx="417290" cy="308848"/>
            <a:chOff x="0" y="0"/>
            <a:chExt cx="556387" cy="411797"/>
          </a:xfrm>
        </p:grpSpPr>
        <p:sp>
          <p:nvSpPr>
            <p:cNvPr name="Freeform 506" id="50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07" id="507"/>
          <p:cNvGrpSpPr/>
          <p:nvPr/>
        </p:nvGrpSpPr>
        <p:grpSpPr>
          <a:xfrm rot="0">
            <a:off x="7082990" y="8133083"/>
            <a:ext cx="417290" cy="308848"/>
            <a:chOff x="0" y="0"/>
            <a:chExt cx="556387" cy="411797"/>
          </a:xfrm>
        </p:grpSpPr>
        <p:sp>
          <p:nvSpPr>
            <p:cNvPr name="Freeform 508" id="50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09" id="509"/>
          <p:cNvGrpSpPr/>
          <p:nvPr/>
        </p:nvGrpSpPr>
        <p:grpSpPr>
          <a:xfrm rot="0">
            <a:off x="7500280" y="8133083"/>
            <a:ext cx="417290" cy="308848"/>
            <a:chOff x="0" y="0"/>
            <a:chExt cx="556387" cy="411797"/>
          </a:xfrm>
        </p:grpSpPr>
        <p:sp>
          <p:nvSpPr>
            <p:cNvPr name="Freeform 510" id="51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11" id="511"/>
          <p:cNvGrpSpPr/>
          <p:nvPr/>
        </p:nvGrpSpPr>
        <p:grpSpPr>
          <a:xfrm rot="0">
            <a:off x="7917571" y="8133083"/>
            <a:ext cx="417290" cy="308848"/>
            <a:chOff x="0" y="0"/>
            <a:chExt cx="556387" cy="411797"/>
          </a:xfrm>
        </p:grpSpPr>
        <p:sp>
          <p:nvSpPr>
            <p:cNvPr name="Freeform 512" id="51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13" id="513"/>
          <p:cNvGrpSpPr/>
          <p:nvPr/>
        </p:nvGrpSpPr>
        <p:grpSpPr>
          <a:xfrm rot="0">
            <a:off x="8334870" y="8133083"/>
            <a:ext cx="417290" cy="308848"/>
            <a:chOff x="0" y="0"/>
            <a:chExt cx="556387" cy="411797"/>
          </a:xfrm>
        </p:grpSpPr>
        <p:sp>
          <p:nvSpPr>
            <p:cNvPr name="Freeform 514" id="51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15" id="515"/>
          <p:cNvGrpSpPr/>
          <p:nvPr/>
        </p:nvGrpSpPr>
        <p:grpSpPr>
          <a:xfrm rot="0">
            <a:off x="8752161" y="8133083"/>
            <a:ext cx="417290" cy="308848"/>
            <a:chOff x="0" y="0"/>
            <a:chExt cx="556387" cy="411797"/>
          </a:xfrm>
        </p:grpSpPr>
        <p:sp>
          <p:nvSpPr>
            <p:cNvPr name="Freeform 516" id="51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17" id="517"/>
          <p:cNvGrpSpPr/>
          <p:nvPr/>
        </p:nvGrpSpPr>
        <p:grpSpPr>
          <a:xfrm rot="0">
            <a:off x="9169451" y="8133083"/>
            <a:ext cx="417290" cy="308848"/>
            <a:chOff x="0" y="0"/>
            <a:chExt cx="556387" cy="411797"/>
          </a:xfrm>
        </p:grpSpPr>
        <p:sp>
          <p:nvSpPr>
            <p:cNvPr name="Freeform 518" id="51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19" id="519"/>
          <p:cNvGrpSpPr/>
          <p:nvPr/>
        </p:nvGrpSpPr>
        <p:grpSpPr>
          <a:xfrm rot="0">
            <a:off x="9586741" y="8133083"/>
            <a:ext cx="417290" cy="308848"/>
            <a:chOff x="0" y="0"/>
            <a:chExt cx="556387" cy="411797"/>
          </a:xfrm>
        </p:grpSpPr>
        <p:sp>
          <p:nvSpPr>
            <p:cNvPr name="Freeform 520" id="52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21" id="521"/>
          <p:cNvGrpSpPr/>
          <p:nvPr/>
        </p:nvGrpSpPr>
        <p:grpSpPr>
          <a:xfrm rot="0">
            <a:off x="10004041" y="8133083"/>
            <a:ext cx="417290" cy="308848"/>
            <a:chOff x="0" y="0"/>
            <a:chExt cx="556387" cy="411797"/>
          </a:xfrm>
        </p:grpSpPr>
        <p:sp>
          <p:nvSpPr>
            <p:cNvPr name="Freeform 522" id="52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23" id="523"/>
          <p:cNvGrpSpPr/>
          <p:nvPr/>
        </p:nvGrpSpPr>
        <p:grpSpPr>
          <a:xfrm rot="0">
            <a:off x="10421331" y="8133083"/>
            <a:ext cx="417290" cy="308848"/>
            <a:chOff x="0" y="0"/>
            <a:chExt cx="556387" cy="411797"/>
          </a:xfrm>
        </p:grpSpPr>
        <p:sp>
          <p:nvSpPr>
            <p:cNvPr name="Freeform 524" id="52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25" id="525"/>
          <p:cNvGrpSpPr/>
          <p:nvPr/>
        </p:nvGrpSpPr>
        <p:grpSpPr>
          <a:xfrm rot="0">
            <a:off x="10838621" y="8133083"/>
            <a:ext cx="417290" cy="308848"/>
            <a:chOff x="0" y="0"/>
            <a:chExt cx="556387" cy="411797"/>
          </a:xfrm>
        </p:grpSpPr>
        <p:sp>
          <p:nvSpPr>
            <p:cNvPr name="Freeform 526" id="52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27" id="527"/>
          <p:cNvGrpSpPr/>
          <p:nvPr/>
        </p:nvGrpSpPr>
        <p:grpSpPr>
          <a:xfrm rot="0">
            <a:off x="823608" y="8441931"/>
            <a:ext cx="417290" cy="308848"/>
            <a:chOff x="0" y="0"/>
            <a:chExt cx="556387" cy="411797"/>
          </a:xfrm>
        </p:grpSpPr>
        <p:sp>
          <p:nvSpPr>
            <p:cNvPr name="Freeform 528" id="52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29" id="529"/>
          <p:cNvGrpSpPr/>
          <p:nvPr/>
        </p:nvGrpSpPr>
        <p:grpSpPr>
          <a:xfrm rot="0">
            <a:off x="1240898" y="8441931"/>
            <a:ext cx="417290" cy="308848"/>
            <a:chOff x="0" y="0"/>
            <a:chExt cx="556387" cy="411797"/>
          </a:xfrm>
        </p:grpSpPr>
        <p:sp>
          <p:nvSpPr>
            <p:cNvPr name="Freeform 530" id="53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31" id="531"/>
          <p:cNvGrpSpPr/>
          <p:nvPr/>
        </p:nvGrpSpPr>
        <p:grpSpPr>
          <a:xfrm rot="0">
            <a:off x="1658188" y="8441931"/>
            <a:ext cx="417290" cy="308848"/>
            <a:chOff x="0" y="0"/>
            <a:chExt cx="556387" cy="411797"/>
          </a:xfrm>
        </p:grpSpPr>
        <p:sp>
          <p:nvSpPr>
            <p:cNvPr name="Freeform 532" id="53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33" id="533"/>
          <p:cNvGrpSpPr/>
          <p:nvPr/>
        </p:nvGrpSpPr>
        <p:grpSpPr>
          <a:xfrm rot="0">
            <a:off x="2075478" y="8441931"/>
            <a:ext cx="417290" cy="308848"/>
            <a:chOff x="0" y="0"/>
            <a:chExt cx="556387" cy="411797"/>
          </a:xfrm>
        </p:grpSpPr>
        <p:sp>
          <p:nvSpPr>
            <p:cNvPr name="Freeform 534" id="53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35" id="535"/>
          <p:cNvGrpSpPr/>
          <p:nvPr/>
        </p:nvGrpSpPr>
        <p:grpSpPr>
          <a:xfrm rot="0">
            <a:off x="2492769" y="8441931"/>
            <a:ext cx="417290" cy="308848"/>
            <a:chOff x="0" y="0"/>
            <a:chExt cx="556387" cy="411797"/>
          </a:xfrm>
        </p:grpSpPr>
        <p:sp>
          <p:nvSpPr>
            <p:cNvPr name="Freeform 536" id="53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37" id="537"/>
          <p:cNvGrpSpPr/>
          <p:nvPr/>
        </p:nvGrpSpPr>
        <p:grpSpPr>
          <a:xfrm rot="0">
            <a:off x="2910068" y="8441931"/>
            <a:ext cx="417290" cy="308848"/>
            <a:chOff x="0" y="0"/>
            <a:chExt cx="556387" cy="411797"/>
          </a:xfrm>
        </p:grpSpPr>
        <p:sp>
          <p:nvSpPr>
            <p:cNvPr name="Freeform 538" id="53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39" id="539"/>
          <p:cNvGrpSpPr/>
          <p:nvPr/>
        </p:nvGrpSpPr>
        <p:grpSpPr>
          <a:xfrm rot="0">
            <a:off x="3327359" y="8441931"/>
            <a:ext cx="417290" cy="308848"/>
            <a:chOff x="0" y="0"/>
            <a:chExt cx="556387" cy="411797"/>
          </a:xfrm>
        </p:grpSpPr>
        <p:sp>
          <p:nvSpPr>
            <p:cNvPr name="Freeform 540" id="54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41" id="541"/>
          <p:cNvGrpSpPr/>
          <p:nvPr/>
        </p:nvGrpSpPr>
        <p:grpSpPr>
          <a:xfrm rot="0">
            <a:off x="3744649" y="8441931"/>
            <a:ext cx="417290" cy="308848"/>
            <a:chOff x="0" y="0"/>
            <a:chExt cx="556387" cy="411797"/>
          </a:xfrm>
        </p:grpSpPr>
        <p:sp>
          <p:nvSpPr>
            <p:cNvPr name="Freeform 542" id="54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43" id="543"/>
          <p:cNvGrpSpPr/>
          <p:nvPr/>
        </p:nvGrpSpPr>
        <p:grpSpPr>
          <a:xfrm rot="0">
            <a:off x="4161939" y="8441931"/>
            <a:ext cx="417290" cy="308848"/>
            <a:chOff x="0" y="0"/>
            <a:chExt cx="556387" cy="411797"/>
          </a:xfrm>
        </p:grpSpPr>
        <p:sp>
          <p:nvSpPr>
            <p:cNvPr name="Freeform 544" id="54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45" id="545"/>
          <p:cNvGrpSpPr/>
          <p:nvPr/>
        </p:nvGrpSpPr>
        <p:grpSpPr>
          <a:xfrm rot="0">
            <a:off x="4579239" y="8441931"/>
            <a:ext cx="417290" cy="308848"/>
            <a:chOff x="0" y="0"/>
            <a:chExt cx="556387" cy="411797"/>
          </a:xfrm>
        </p:grpSpPr>
        <p:sp>
          <p:nvSpPr>
            <p:cNvPr name="Freeform 546" id="54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47" id="547"/>
          <p:cNvGrpSpPr/>
          <p:nvPr/>
        </p:nvGrpSpPr>
        <p:grpSpPr>
          <a:xfrm rot="0">
            <a:off x="4996529" y="8441931"/>
            <a:ext cx="417290" cy="308848"/>
            <a:chOff x="0" y="0"/>
            <a:chExt cx="556387" cy="411797"/>
          </a:xfrm>
        </p:grpSpPr>
        <p:sp>
          <p:nvSpPr>
            <p:cNvPr name="Freeform 548" id="54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49" id="549"/>
          <p:cNvGrpSpPr/>
          <p:nvPr/>
        </p:nvGrpSpPr>
        <p:grpSpPr>
          <a:xfrm rot="0">
            <a:off x="5413820" y="8441931"/>
            <a:ext cx="417290" cy="308848"/>
            <a:chOff x="0" y="0"/>
            <a:chExt cx="556387" cy="411797"/>
          </a:xfrm>
        </p:grpSpPr>
        <p:sp>
          <p:nvSpPr>
            <p:cNvPr name="Freeform 550" id="55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51" id="551"/>
          <p:cNvGrpSpPr/>
          <p:nvPr/>
        </p:nvGrpSpPr>
        <p:grpSpPr>
          <a:xfrm rot="0">
            <a:off x="5831110" y="8441931"/>
            <a:ext cx="417290" cy="308848"/>
            <a:chOff x="0" y="0"/>
            <a:chExt cx="556387" cy="411797"/>
          </a:xfrm>
        </p:grpSpPr>
        <p:sp>
          <p:nvSpPr>
            <p:cNvPr name="Freeform 552" id="55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53" id="553"/>
          <p:cNvGrpSpPr/>
          <p:nvPr/>
        </p:nvGrpSpPr>
        <p:grpSpPr>
          <a:xfrm rot="0">
            <a:off x="6248400" y="8441931"/>
            <a:ext cx="417290" cy="308848"/>
            <a:chOff x="0" y="0"/>
            <a:chExt cx="556387" cy="411797"/>
          </a:xfrm>
        </p:grpSpPr>
        <p:sp>
          <p:nvSpPr>
            <p:cNvPr name="Freeform 554" id="55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55" id="555"/>
          <p:cNvGrpSpPr/>
          <p:nvPr/>
        </p:nvGrpSpPr>
        <p:grpSpPr>
          <a:xfrm rot="0">
            <a:off x="6665700" y="8441931"/>
            <a:ext cx="417290" cy="308848"/>
            <a:chOff x="0" y="0"/>
            <a:chExt cx="556387" cy="411797"/>
          </a:xfrm>
        </p:grpSpPr>
        <p:sp>
          <p:nvSpPr>
            <p:cNvPr name="Freeform 556" id="55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57" id="557"/>
          <p:cNvGrpSpPr/>
          <p:nvPr/>
        </p:nvGrpSpPr>
        <p:grpSpPr>
          <a:xfrm rot="0">
            <a:off x="7082990" y="8441931"/>
            <a:ext cx="417290" cy="308848"/>
            <a:chOff x="0" y="0"/>
            <a:chExt cx="556387" cy="411797"/>
          </a:xfrm>
        </p:grpSpPr>
        <p:sp>
          <p:nvSpPr>
            <p:cNvPr name="Freeform 558" id="55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59" id="559"/>
          <p:cNvGrpSpPr/>
          <p:nvPr/>
        </p:nvGrpSpPr>
        <p:grpSpPr>
          <a:xfrm rot="0">
            <a:off x="7500280" y="8441931"/>
            <a:ext cx="417290" cy="308848"/>
            <a:chOff x="0" y="0"/>
            <a:chExt cx="556387" cy="411797"/>
          </a:xfrm>
        </p:grpSpPr>
        <p:sp>
          <p:nvSpPr>
            <p:cNvPr name="Freeform 560" id="56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61" id="561"/>
          <p:cNvGrpSpPr/>
          <p:nvPr/>
        </p:nvGrpSpPr>
        <p:grpSpPr>
          <a:xfrm rot="0">
            <a:off x="7917571" y="8441931"/>
            <a:ext cx="417290" cy="308848"/>
            <a:chOff x="0" y="0"/>
            <a:chExt cx="556387" cy="411797"/>
          </a:xfrm>
        </p:grpSpPr>
        <p:sp>
          <p:nvSpPr>
            <p:cNvPr name="Freeform 562" id="56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63" id="563"/>
          <p:cNvGrpSpPr/>
          <p:nvPr/>
        </p:nvGrpSpPr>
        <p:grpSpPr>
          <a:xfrm rot="0">
            <a:off x="8334870" y="8441931"/>
            <a:ext cx="417290" cy="308848"/>
            <a:chOff x="0" y="0"/>
            <a:chExt cx="556387" cy="411797"/>
          </a:xfrm>
        </p:grpSpPr>
        <p:sp>
          <p:nvSpPr>
            <p:cNvPr name="Freeform 564" id="56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65" id="565"/>
          <p:cNvGrpSpPr/>
          <p:nvPr/>
        </p:nvGrpSpPr>
        <p:grpSpPr>
          <a:xfrm rot="0">
            <a:off x="8752161" y="8441931"/>
            <a:ext cx="417290" cy="308848"/>
            <a:chOff x="0" y="0"/>
            <a:chExt cx="556387" cy="411797"/>
          </a:xfrm>
        </p:grpSpPr>
        <p:sp>
          <p:nvSpPr>
            <p:cNvPr name="Freeform 566" id="56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67" id="567"/>
          <p:cNvGrpSpPr/>
          <p:nvPr/>
        </p:nvGrpSpPr>
        <p:grpSpPr>
          <a:xfrm rot="0">
            <a:off x="9169451" y="8441931"/>
            <a:ext cx="417290" cy="308848"/>
            <a:chOff x="0" y="0"/>
            <a:chExt cx="556387" cy="411797"/>
          </a:xfrm>
        </p:grpSpPr>
        <p:sp>
          <p:nvSpPr>
            <p:cNvPr name="Freeform 568" id="56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69" id="569"/>
          <p:cNvGrpSpPr/>
          <p:nvPr/>
        </p:nvGrpSpPr>
        <p:grpSpPr>
          <a:xfrm rot="0">
            <a:off x="9586741" y="8441931"/>
            <a:ext cx="417290" cy="308848"/>
            <a:chOff x="0" y="0"/>
            <a:chExt cx="556387" cy="411797"/>
          </a:xfrm>
        </p:grpSpPr>
        <p:sp>
          <p:nvSpPr>
            <p:cNvPr name="Freeform 570" id="57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71" id="571"/>
          <p:cNvGrpSpPr/>
          <p:nvPr/>
        </p:nvGrpSpPr>
        <p:grpSpPr>
          <a:xfrm rot="0">
            <a:off x="10004041" y="8441931"/>
            <a:ext cx="417290" cy="308848"/>
            <a:chOff x="0" y="0"/>
            <a:chExt cx="556387" cy="411797"/>
          </a:xfrm>
        </p:grpSpPr>
        <p:sp>
          <p:nvSpPr>
            <p:cNvPr name="Freeform 572" id="57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73" id="573"/>
          <p:cNvGrpSpPr/>
          <p:nvPr/>
        </p:nvGrpSpPr>
        <p:grpSpPr>
          <a:xfrm rot="0">
            <a:off x="10421331" y="8441931"/>
            <a:ext cx="417290" cy="308848"/>
            <a:chOff x="0" y="0"/>
            <a:chExt cx="556387" cy="411797"/>
          </a:xfrm>
        </p:grpSpPr>
        <p:sp>
          <p:nvSpPr>
            <p:cNvPr name="Freeform 574" id="57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75" id="575"/>
          <p:cNvGrpSpPr/>
          <p:nvPr/>
        </p:nvGrpSpPr>
        <p:grpSpPr>
          <a:xfrm rot="0">
            <a:off x="10838621" y="8441931"/>
            <a:ext cx="417290" cy="308848"/>
            <a:chOff x="0" y="0"/>
            <a:chExt cx="556387" cy="411797"/>
          </a:xfrm>
        </p:grpSpPr>
        <p:sp>
          <p:nvSpPr>
            <p:cNvPr name="Freeform 576" id="57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77" id="577"/>
          <p:cNvGrpSpPr/>
          <p:nvPr/>
        </p:nvGrpSpPr>
        <p:grpSpPr>
          <a:xfrm rot="0">
            <a:off x="823608" y="8750789"/>
            <a:ext cx="417290" cy="308848"/>
            <a:chOff x="0" y="0"/>
            <a:chExt cx="556387" cy="411797"/>
          </a:xfrm>
        </p:grpSpPr>
        <p:sp>
          <p:nvSpPr>
            <p:cNvPr name="Freeform 578" id="57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79" id="579"/>
          <p:cNvGrpSpPr/>
          <p:nvPr/>
        </p:nvGrpSpPr>
        <p:grpSpPr>
          <a:xfrm rot="0">
            <a:off x="1240898" y="8750789"/>
            <a:ext cx="417290" cy="308848"/>
            <a:chOff x="0" y="0"/>
            <a:chExt cx="556387" cy="411797"/>
          </a:xfrm>
        </p:grpSpPr>
        <p:sp>
          <p:nvSpPr>
            <p:cNvPr name="Freeform 580" id="58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81" id="581"/>
          <p:cNvGrpSpPr/>
          <p:nvPr/>
        </p:nvGrpSpPr>
        <p:grpSpPr>
          <a:xfrm rot="0">
            <a:off x="1658188" y="8750789"/>
            <a:ext cx="417290" cy="308848"/>
            <a:chOff x="0" y="0"/>
            <a:chExt cx="556387" cy="411797"/>
          </a:xfrm>
        </p:grpSpPr>
        <p:sp>
          <p:nvSpPr>
            <p:cNvPr name="Freeform 582" id="58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83" id="583"/>
          <p:cNvGrpSpPr/>
          <p:nvPr/>
        </p:nvGrpSpPr>
        <p:grpSpPr>
          <a:xfrm rot="0">
            <a:off x="2075478" y="8750789"/>
            <a:ext cx="417290" cy="308848"/>
            <a:chOff x="0" y="0"/>
            <a:chExt cx="556387" cy="411797"/>
          </a:xfrm>
        </p:grpSpPr>
        <p:sp>
          <p:nvSpPr>
            <p:cNvPr name="Freeform 584" id="58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85" id="585"/>
          <p:cNvGrpSpPr/>
          <p:nvPr/>
        </p:nvGrpSpPr>
        <p:grpSpPr>
          <a:xfrm rot="0">
            <a:off x="2492769" y="8750789"/>
            <a:ext cx="417290" cy="308848"/>
            <a:chOff x="0" y="0"/>
            <a:chExt cx="556387" cy="411797"/>
          </a:xfrm>
        </p:grpSpPr>
        <p:sp>
          <p:nvSpPr>
            <p:cNvPr name="Freeform 586" id="58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87" id="587"/>
          <p:cNvGrpSpPr/>
          <p:nvPr/>
        </p:nvGrpSpPr>
        <p:grpSpPr>
          <a:xfrm rot="0">
            <a:off x="2910068" y="8750789"/>
            <a:ext cx="417290" cy="308848"/>
            <a:chOff x="0" y="0"/>
            <a:chExt cx="556387" cy="411797"/>
          </a:xfrm>
        </p:grpSpPr>
        <p:sp>
          <p:nvSpPr>
            <p:cNvPr name="Freeform 588" id="58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89" id="589"/>
          <p:cNvGrpSpPr/>
          <p:nvPr/>
        </p:nvGrpSpPr>
        <p:grpSpPr>
          <a:xfrm rot="0">
            <a:off x="3327359" y="8750789"/>
            <a:ext cx="417290" cy="308848"/>
            <a:chOff x="0" y="0"/>
            <a:chExt cx="556387" cy="411797"/>
          </a:xfrm>
        </p:grpSpPr>
        <p:sp>
          <p:nvSpPr>
            <p:cNvPr name="Freeform 590" id="59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591" id="591"/>
          <p:cNvGrpSpPr/>
          <p:nvPr/>
        </p:nvGrpSpPr>
        <p:grpSpPr>
          <a:xfrm rot="0">
            <a:off x="3744649" y="8750789"/>
            <a:ext cx="417290" cy="308848"/>
            <a:chOff x="0" y="0"/>
            <a:chExt cx="556387" cy="411797"/>
          </a:xfrm>
        </p:grpSpPr>
        <p:sp>
          <p:nvSpPr>
            <p:cNvPr name="Freeform 592" id="59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593" id="593"/>
          <p:cNvGrpSpPr/>
          <p:nvPr/>
        </p:nvGrpSpPr>
        <p:grpSpPr>
          <a:xfrm rot="0">
            <a:off x="4161939" y="8750789"/>
            <a:ext cx="417290" cy="308848"/>
            <a:chOff x="0" y="0"/>
            <a:chExt cx="556387" cy="411797"/>
          </a:xfrm>
        </p:grpSpPr>
        <p:sp>
          <p:nvSpPr>
            <p:cNvPr name="Freeform 594" id="59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95" id="595"/>
          <p:cNvGrpSpPr/>
          <p:nvPr/>
        </p:nvGrpSpPr>
        <p:grpSpPr>
          <a:xfrm rot="0">
            <a:off x="4579239" y="8750789"/>
            <a:ext cx="417290" cy="308848"/>
            <a:chOff x="0" y="0"/>
            <a:chExt cx="556387" cy="411797"/>
          </a:xfrm>
        </p:grpSpPr>
        <p:sp>
          <p:nvSpPr>
            <p:cNvPr name="Freeform 596" id="59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97" id="597"/>
          <p:cNvGrpSpPr/>
          <p:nvPr/>
        </p:nvGrpSpPr>
        <p:grpSpPr>
          <a:xfrm rot="0">
            <a:off x="4996529" y="8750789"/>
            <a:ext cx="417290" cy="308848"/>
            <a:chOff x="0" y="0"/>
            <a:chExt cx="556387" cy="411797"/>
          </a:xfrm>
        </p:grpSpPr>
        <p:sp>
          <p:nvSpPr>
            <p:cNvPr name="Freeform 598" id="59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599" id="599"/>
          <p:cNvGrpSpPr/>
          <p:nvPr/>
        </p:nvGrpSpPr>
        <p:grpSpPr>
          <a:xfrm rot="0">
            <a:off x="5413820" y="8750789"/>
            <a:ext cx="417290" cy="308848"/>
            <a:chOff x="0" y="0"/>
            <a:chExt cx="556387" cy="411797"/>
          </a:xfrm>
        </p:grpSpPr>
        <p:sp>
          <p:nvSpPr>
            <p:cNvPr name="Freeform 600" id="60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601" id="601"/>
          <p:cNvGrpSpPr/>
          <p:nvPr/>
        </p:nvGrpSpPr>
        <p:grpSpPr>
          <a:xfrm rot="0">
            <a:off x="5831110" y="8750789"/>
            <a:ext cx="417290" cy="308848"/>
            <a:chOff x="0" y="0"/>
            <a:chExt cx="556387" cy="411797"/>
          </a:xfrm>
        </p:grpSpPr>
        <p:sp>
          <p:nvSpPr>
            <p:cNvPr name="Freeform 602" id="60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603" id="603"/>
          <p:cNvGrpSpPr/>
          <p:nvPr/>
        </p:nvGrpSpPr>
        <p:grpSpPr>
          <a:xfrm rot="0">
            <a:off x="6248400" y="8750789"/>
            <a:ext cx="417290" cy="308848"/>
            <a:chOff x="0" y="0"/>
            <a:chExt cx="556387" cy="411797"/>
          </a:xfrm>
        </p:grpSpPr>
        <p:sp>
          <p:nvSpPr>
            <p:cNvPr name="Freeform 604" id="60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605" id="605"/>
          <p:cNvGrpSpPr/>
          <p:nvPr/>
        </p:nvGrpSpPr>
        <p:grpSpPr>
          <a:xfrm rot="0">
            <a:off x="6665700" y="8750789"/>
            <a:ext cx="417290" cy="308848"/>
            <a:chOff x="0" y="0"/>
            <a:chExt cx="556387" cy="411797"/>
          </a:xfrm>
        </p:grpSpPr>
        <p:sp>
          <p:nvSpPr>
            <p:cNvPr name="Freeform 606" id="60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607" id="607"/>
          <p:cNvGrpSpPr/>
          <p:nvPr/>
        </p:nvGrpSpPr>
        <p:grpSpPr>
          <a:xfrm rot="0">
            <a:off x="7082990" y="8750789"/>
            <a:ext cx="417290" cy="308848"/>
            <a:chOff x="0" y="0"/>
            <a:chExt cx="556387" cy="411797"/>
          </a:xfrm>
        </p:grpSpPr>
        <p:sp>
          <p:nvSpPr>
            <p:cNvPr name="Freeform 608" id="60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609" id="609"/>
          <p:cNvGrpSpPr/>
          <p:nvPr/>
        </p:nvGrpSpPr>
        <p:grpSpPr>
          <a:xfrm rot="0">
            <a:off x="7500280" y="8750789"/>
            <a:ext cx="417290" cy="308848"/>
            <a:chOff x="0" y="0"/>
            <a:chExt cx="556387" cy="411797"/>
          </a:xfrm>
        </p:grpSpPr>
        <p:sp>
          <p:nvSpPr>
            <p:cNvPr name="Freeform 610" id="61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611" id="611"/>
          <p:cNvGrpSpPr/>
          <p:nvPr/>
        </p:nvGrpSpPr>
        <p:grpSpPr>
          <a:xfrm rot="0">
            <a:off x="7917571" y="8750789"/>
            <a:ext cx="417290" cy="308848"/>
            <a:chOff x="0" y="0"/>
            <a:chExt cx="556387" cy="411797"/>
          </a:xfrm>
        </p:grpSpPr>
        <p:sp>
          <p:nvSpPr>
            <p:cNvPr name="Freeform 612" id="61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613" id="613"/>
          <p:cNvGrpSpPr/>
          <p:nvPr/>
        </p:nvGrpSpPr>
        <p:grpSpPr>
          <a:xfrm rot="0">
            <a:off x="8334870" y="8750789"/>
            <a:ext cx="417290" cy="308848"/>
            <a:chOff x="0" y="0"/>
            <a:chExt cx="556387" cy="411797"/>
          </a:xfrm>
        </p:grpSpPr>
        <p:sp>
          <p:nvSpPr>
            <p:cNvPr name="Freeform 614" id="61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B86F4D"/>
            </a:solidFill>
          </p:spPr>
        </p:sp>
      </p:grpSp>
      <p:grpSp>
        <p:nvGrpSpPr>
          <p:cNvPr name="Group 615" id="615"/>
          <p:cNvGrpSpPr/>
          <p:nvPr/>
        </p:nvGrpSpPr>
        <p:grpSpPr>
          <a:xfrm rot="0">
            <a:off x="8752161" y="8750789"/>
            <a:ext cx="417290" cy="308848"/>
            <a:chOff x="0" y="0"/>
            <a:chExt cx="556387" cy="411797"/>
          </a:xfrm>
        </p:grpSpPr>
        <p:sp>
          <p:nvSpPr>
            <p:cNvPr name="Freeform 616" id="61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617" id="617"/>
          <p:cNvGrpSpPr/>
          <p:nvPr/>
        </p:nvGrpSpPr>
        <p:grpSpPr>
          <a:xfrm rot="0">
            <a:off x="9169451" y="8750789"/>
            <a:ext cx="417290" cy="308848"/>
            <a:chOff x="0" y="0"/>
            <a:chExt cx="556387" cy="411797"/>
          </a:xfrm>
        </p:grpSpPr>
        <p:sp>
          <p:nvSpPr>
            <p:cNvPr name="Freeform 618" id="61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619" id="619"/>
          <p:cNvGrpSpPr/>
          <p:nvPr/>
        </p:nvGrpSpPr>
        <p:grpSpPr>
          <a:xfrm rot="0">
            <a:off x="9586741" y="8750789"/>
            <a:ext cx="417290" cy="308848"/>
            <a:chOff x="0" y="0"/>
            <a:chExt cx="556387" cy="411797"/>
          </a:xfrm>
        </p:grpSpPr>
        <p:sp>
          <p:nvSpPr>
            <p:cNvPr name="Freeform 620" id="62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621" id="621"/>
          <p:cNvGrpSpPr/>
          <p:nvPr/>
        </p:nvGrpSpPr>
        <p:grpSpPr>
          <a:xfrm rot="0">
            <a:off x="10004041" y="8750789"/>
            <a:ext cx="417290" cy="308848"/>
            <a:chOff x="0" y="0"/>
            <a:chExt cx="556387" cy="411797"/>
          </a:xfrm>
        </p:grpSpPr>
        <p:sp>
          <p:nvSpPr>
            <p:cNvPr name="Freeform 622" id="62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623" id="623"/>
          <p:cNvGrpSpPr/>
          <p:nvPr/>
        </p:nvGrpSpPr>
        <p:grpSpPr>
          <a:xfrm rot="0">
            <a:off x="10421331" y="8750789"/>
            <a:ext cx="417290" cy="308848"/>
            <a:chOff x="0" y="0"/>
            <a:chExt cx="556387" cy="411797"/>
          </a:xfrm>
        </p:grpSpPr>
        <p:sp>
          <p:nvSpPr>
            <p:cNvPr name="Freeform 624" id="62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625" id="625"/>
          <p:cNvGrpSpPr/>
          <p:nvPr/>
        </p:nvGrpSpPr>
        <p:grpSpPr>
          <a:xfrm rot="0">
            <a:off x="10838621" y="8750789"/>
            <a:ext cx="417290" cy="308848"/>
            <a:chOff x="0" y="0"/>
            <a:chExt cx="556387" cy="411797"/>
          </a:xfrm>
        </p:grpSpPr>
        <p:sp>
          <p:nvSpPr>
            <p:cNvPr name="Freeform 626" id="62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8B9C6F"/>
            </a:solidFill>
          </p:spPr>
        </p:sp>
      </p:grpSp>
      <p:grpSp>
        <p:nvGrpSpPr>
          <p:cNvPr name="Group 627" id="627"/>
          <p:cNvGrpSpPr/>
          <p:nvPr/>
        </p:nvGrpSpPr>
        <p:grpSpPr>
          <a:xfrm rot="0">
            <a:off x="5413820" y="6588824"/>
            <a:ext cx="417290" cy="308848"/>
            <a:chOff x="0" y="0"/>
            <a:chExt cx="556387" cy="411797"/>
          </a:xfrm>
        </p:grpSpPr>
        <p:sp>
          <p:nvSpPr>
            <p:cNvPr name="Freeform 628" id="62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A2820"/>
            </a:solidFill>
          </p:spPr>
        </p:sp>
      </p:grpSp>
      <p:grpSp>
        <p:nvGrpSpPr>
          <p:cNvPr name="Group 629" id="629"/>
          <p:cNvGrpSpPr/>
          <p:nvPr/>
        </p:nvGrpSpPr>
        <p:grpSpPr>
          <a:xfrm rot="0">
            <a:off x="5831110" y="6588824"/>
            <a:ext cx="417290" cy="308848"/>
            <a:chOff x="0" y="0"/>
            <a:chExt cx="556387" cy="411797"/>
          </a:xfrm>
        </p:grpSpPr>
        <p:sp>
          <p:nvSpPr>
            <p:cNvPr name="Freeform 630" id="63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A2820"/>
            </a:solidFill>
          </p:spPr>
        </p:sp>
      </p:grpSp>
      <p:grpSp>
        <p:nvGrpSpPr>
          <p:cNvPr name="Group 631" id="631"/>
          <p:cNvGrpSpPr/>
          <p:nvPr/>
        </p:nvGrpSpPr>
        <p:grpSpPr>
          <a:xfrm rot="0">
            <a:off x="6248400" y="6588824"/>
            <a:ext cx="417290" cy="308848"/>
            <a:chOff x="0" y="0"/>
            <a:chExt cx="556387" cy="411797"/>
          </a:xfrm>
        </p:grpSpPr>
        <p:sp>
          <p:nvSpPr>
            <p:cNvPr name="Freeform 632" id="63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A2820"/>
            </a:solidFill>
          </p:spPr>
        </p:sp>
      </p:grpSp>
      <p:grpSp>
        <p:nvGrpSpPr>
          <p:cNvPr name="Group 633" id="633"/>
          <p:cNvGrpSpPr/>
          <p:nvPr/>
        </p:nvGrpSpPr>
        <p:grpSpPr>
          <a:xfrm rot="0">
            <a:off x="4996529" y="6897681"/>
            <a:ext cx="417290" cy="308848"/>
            <a:chOff x="0" y="0"/>
            <a:chExt cx="556387" cy="411797"/>
          </a:xfrm>
        </p:grpSpPr>
        <p:sp>
          <p:nvSpPr>
            <p:cNvPr name="Freeform 634" id="63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A2820"/>
            </a:solidFill>
          </p:spPr>
        </p:sp>
      </p:grpSp>
      <p:grpSp>
        <p:nvGrpSpPr>
          <p:cNvPr name="Group 635" id="635"/>
          <p:cNvGrpSpPr/>
          <p:nvPr/>
        </p:nvGrpSpPr>
        <p:grpSpPr>
          <a:xfrm rot="0">
            <a:off x="5413820" y="6897681"/>
            <a:ext cx="417290" cy="308848"/>
            <a:chOff x="0" y="0"/>
            <a:chExt cx="556387" cy="411797"/>
          </a:xfrm>
        </p:grpSpPr>
        <p:sp>
          <p:nvSpPr>
            <p:cNvPr name="Freeform 636" id="63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637" id="637"/>
          <p:cNvGrpSpPr/>
          <p:nvPr/>
        </p:nvGrpSpPr>
        <p:grpSpPr>
          <a:xfrm rot="0">
            <a:off x="5831110" y="6897681"/>
            <a:ext cx="417290" cy="308848"/>
            <a:chOff x="0" y="0"/>
            <a:chExt cx="556387" cy="411797"/>
          </a:xfrm>
        </p:grpSpPr>
        <p:sp>
          <p:nvSpPr>
            <p:cNvPr name="Freeform 638" id="63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639" id="639"/>
          <p:cNvGrpSpPr/>
          <p:nvPr/>
        </p:nvGrpSpPr>
        <p:grpSpPr>
          <a:xfrm rot="0">
            <a:off x="6248400" y="6897681"/>
            <a:ext cx="417290" cy="308848"/>
            <a:chOff x="0" y="0"/>
            <a:chExt cx="556387" cy="411797"/>
          </a:xfrm>
        </p:grpSpPr>
        <p:sp>
          <p:nvSpPr>
            <p:cNvPr name="Freeform 640" id="64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641" id="641"/>
          <p:cNvGrpSpPr/>
          <p:nvPr/>
        </p:nvGrpSpPr>
        <p:grpSpPr>
          <a:xfrm rot="0">
            <a:off x="6665700" y="6897681"/>
            <a:ext cx="417290" cy="308848"/>
            <a:chOff x="0" y="0"/>
            <a:chExt cx="556387" cy="411797"/>
          </a:xfrm>
        </p:grpSpPr>
        <p:sp>
          <p:nvSpPr>
            <p:cNvPr name="Freeform 642" id="64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A2820"/>
            </a:solidFill>
          </p:spPr>
        </p:sp>
      </p:grpSp>
      <p:grpSp>
        <p:nvGrpSpPr>
          <p:cNvPr name="Group 643" id="643"/>
          <p:cNvGrpSpPr/>
          <p:nvPr/>
        </p:nvGrpSpPr>
        <p:grpSpPr>
          <a:xfrm rot="0">
            <a:off x="4996529" y="7206529"/>
            <a:ext cx="417290" cy="308848"/>
            <a:chOff x="0" y="0"/>
            <a:chExt cx="556387" cy="411797"/>
          </a:xfrm>
        </p:grpSpPr>
        <p:sp>
          <p:nvSpPr>
            <p:cNvPr name="Freeform 644" id="64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A2820"/>
            </a:solidFill>
          </p:spPr>
        </p:sp>
      </p:grpSp>
      <p:grpSp>
        <p:nvGrpSpPr>
          <p:cNvPr name="Group 645" id="645"/>
          <p:cNvGrpSpPr/>
          <p:nvPr/>
        </p:nvGrpSpPr>
        <p:grpSpPr>
          <a:xfrm rot="0">
            <a:off x="5413820" y="7206529"/>
            <a:ext cx="417290" cy="308848"/>
            <a:chOff x="0" y="0"/>
            <a:chExt cx="556387" cy="411797"/>
          </a:xfrm>
        </p:grpSpPr>
        <p:sp>
          <p:nvSpPr>
            <p:cNvPr name="Freeform 646" id="64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647" id="647"/>
          <p:cNvGrpSpPr/>
          <p:nvPr/>
        </p:nvGrpSpPr>
        <p:grpSpPr>
          <a:xfrm rot="0">
            <a:off x="5831110" y="7206529"/>
            <a:ext cx="417290" cy="308848"/>
            <a:chOff x="0" y="0"/>
            <a:chExt cx="556387" cy="411797"/>
          </a:xfrm>
        </p:grpSpPr>
        <p:sp>
          <p:nvSpPr>
            <p:cNvPr name="Freeform 648" id="64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649" id="649"/>
          <p:cNvGrpSpPr/>
          <p:nvPr/>
        </p:nvGrpSpPr>
        <p:grpSpPr>
          <a:xfrm rot="0">
            <a:off x="6248400" y="7206529"/>
            <a:ext cx="417290" cy="308848"/>
            <a:chOff x="0" y="0"/>
            <a:chExt cx="556387" cy="411797"/>
          </a:xfrm>
        </p:grpSpPr>
        <p:sp>
          <p:nvSpPr>
            <p:cNvPr name="Freeform 650" id="65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651" id="651"/>
          <p:cNvGrpSpPr/>
          <p:nvPr/>
        </p:nvGrpSpPr>
        <p:grpSpPr>
          <a:xfrm rot="0">
            <a:off x="6665700" y="7206529"/>
            <a:ext cx="417290" cy="308848"/>
            <a:chOff x="0" y="0"/>
            <a:chExt cx="556387" cy="411797"/>
          </a:xfrm>
        </p:grpSpPr>
        <p:sp>
          <p:nvSpPr>
            <p:cNvPr name="Freeform 652" id="65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A2820"/>
            </a:solidFill>
          </p:spPr>
        </p:sp>
      </p:grpSp>
      <p:grpSp>
        <p:nvGrpSpPr>
          <p:cNvPr name="Group 653" id="653"/>
          <p:cNvGrpSpPr/>
          <p:nvPr/>
        </p:nvGrpSpPr>
        <p:grpSpPr>
          <a:xfrm rot="0">
            <a:off x="4996529" y="7515377"/>
            <a:ext cx="417290" cy="308848"/>
            <a:chOff x="0" y="0"/>
            <a:chExt cx="556387" cy="411797"/>
          </a:xfrm>
        </p:grpSpPr>
        <p:sp>
          <p:nvSpPr>
            <p:cNvPr name="Freeform 654" id="65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A2820"/>
            </a:solidFill>
          </p:spPr>
        </p:sp>
      </p:grpSp>
      <p:grpSp>
        <p:nvGrpSpPr>
          <p:cNvPr name="Group 655" id="655"/>
          <p:cNvGrpSpPr/>
          <p:nvPr/>
        </p:nvGrpSpPr>
        <p:grpSpPr>
          <a:xfrm rot="0">
            <a:off x="5413820" y="7515377"/>
            <a:ext cx="417290" cy="308848"/>
            <a:chOff x="0" y="0"/>
            <a:chExt cx="556387" cy="411797"/>
          </a:xfrm>
        </p:grpSpPr>
        <p:sp>
          <p:nvSpPr>
            <p:cNvPr name="Freeform 656" id="65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657" id="657"/>
          <p:cNvGrpSpPr/>
          <p:nvPr/>
        </p:nvGrpSpPr>
        <p:grpSpPr>
          <a:xfrm rot="0">
            <a:off x="5831110" y="7515377"/>
            <a:ext cx="417290" cy="308848"/>
            <a:chOff x="0" y="0"/>
            <a:chExt cx="556387" cy="411797"/>
          </a:xfrm>
        </p:grpSpPr>
        <p:sp>
          <p:nvSpPr>
            <p:cNvPr name="Freeform 658" id="65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659" id="659"/>
          <p:cNvGrpSpPr/>
          <p:nvPr/>
        </p:nvGrpSpPr>
        <p:grpSpPr>
          <a:xfrm rot="0">
            <a:off x="6248400" y="7515377"/>
            <a:ext cx="417290" cy="308848"/>
            <a:chOff x="0" y="0"/>
            <a:chExt cx="556387" cy="411797"/>
          </a:xfrm>
        </p:grpSpPr>
        <p:sp>
          <p:nvSpPr>
            <p:cNvPr name="Freeform 660" id="660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661" id="661"/>
          <p:cNvGrpSpPr/>
          <p:nvPr/>
        </p:nvGrpSpPr>
        <p:grpSpPr>
          <a:xfrm rot="0">
            <a:off x="6665700" y="7515377"/>
            <a:ext cx="417290" cy="308848"/>
            <a:chOff x="0" y="0"/>
            <a:chExt cx="556387" cy="411797"/>
          </a:xfrm>
        </p:grpSpPr>
        <p:sp>
          <p:nvSpPr>
            <p:cNvPr name="Freeform 662" id="662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A2820"/>
            </a:solidFill>
          </p:spPr>
        </p:sp>
      </p:grpSp>
      <p:grpSp>
        <p:nvGrpSpPr>
          <p:cNvPr name="Group 663" id="663"/>
          <p:cNvGrpSpPr/>
          <p:nvPr/>
        </p:nvGrpSpPr>
        <p:grpSpPr>
          <a:xfrm rot="0">
            <a:off x="5413820" y="7824235"/>
            <a:ext cx="417290" cy="308848"/>
            <a:chOff x="0" y="0"/>
            <a:chExt cx="556387" cy="411797"/>
          </a:xfrm>
        </p:grpSpPr>
        <p:sp>
          <p:nvSpPr>
            <p:cNvPr name="Freeform 664" id="664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A2820"/>
            </a:solidFill>
          </p:spPr>
        </p:sp>
      </p:grpSp>
      <p:grpSp>
        <p:nvGrpSpPr>
          <p:cNvPr name="Group 665" id="665"/>
          <p:cNvGrpSpPr/>
          <p:nvPr/>
        </p:nvGrpSpPr>
        <p:grpSpPr>
          <a:xfrm rot="0">
            <a:off x="5831110" y="7824235"/>
            <a:ext cx="417290" cy="308848"/>
            <a:chOff x="0" y="0"/>
            <a:chExt cx="556387" cy="411797"/>
          </a:xfrm>
        </p:grpSpPr>
        <p:sp>
          <p:nvSpPr>
            <p:cNvPr name="Freeform 666" id="666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A2820"/>
            </a:solidFill>
          </p:spPr>
        </p:sp>
      </p:grpSp>
      <p:grpSp>
        <p:nvGrpSpPr>
          <p:cNvPr name="Group 667" id="667"/>
          <p:cNvGrpSpPr/>
          <p:nvPr/>
        </p:nvGrpSpPr>
        <p:grpSpPr>
          <a:xfrm rot="0">
            <a:off x="6248400" y="7824235"/>
            <a:ext cx="417290" cy="308848"/>
            <a:chOff x="0" y="0"/>
            <a:chExt cx="556387" cy="411797"/>
          </a:xfrm>
        </p:grpSpPr>
        <p:sp>
          <p:nvSpPr>
            <p:cNvPr name="Freeform 668" id="668"/>
            <p:cNvSpPr/>
            <p:nvPr/>
          </p:nvSpPr>
          <p:spPr>
            <a:xfrm flipH="false" flipV="false" rot="0">
              <a:off x="0" y="0"/>
              <a:ext cx="556387" cy="411861"/>
            </a:xfrm>
            <a:custGeom>
              <a:avLst/>
              <a:gdLst/>
              <a:ahLst/>
              <a:cxnLst/>
              <a:rect r="r" b="b" t="t" l="l"/>
              <a:pathLst>
                <a:path h="411861" w="556387">
                  <a:moveTo>
                    <a:pt x="0" y="0"/>
                  </a:moveTo>
                  <a:lnTo>
                    <a:pt x="556387" y="0"/>
                  </a:lnTo>
                  <a:lnTo>
                    <a:pt x="556387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3A2820"/>
            </a:solidFill>
          </p:spPr>
        </p:sp>
      </p:grpSp>
      <p:grpSp>
        <p:nvGrpSpPr>
          <p:cNvPr name="Group 669" id="669"/>
          <p:cNvGrpSpPr/>
          <p:nvPr/>
        </p:nvGrpSpPr>
        <p:grpSpPr>
          <a:xfrm rot="0">
            <a:off x="1798196" y="6056919"/>
            <a:ext cx="137265" cy="137265"/>
            <a:chOff x="0" y="0"/>
            <a:chExt cx="183020" cy="183020"/>
          </a:xfrm>
        </p:grpSpPr>
        <p:sp>
          <p:nvSpPr>
            <p:cNvPr name="Freeform 670" id="670"/>
            <p:cNvSpPr/>
            <p:nvPr/>
          </p:nvSpPr>
          <p:spPr>
            <a:xfrm flipH="false" flipV="false" rot="0">
              <a:off x="0" y="0"/>
              <a:ext cx="183007" cy="183007"/>
            </a:xfrm>
            <a:custGeom>
              <a:avLst/>
              <a:gdLst/>
              <a:ahLst/>
              <a:cxnLst/>
              <a:rect r="r" b="b" t="t" l="l"/>
              <a:pathLst>
                <a:path h="183007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C99A3F"/>
            </a:solidFill>
          </p:spPr>
        </p:sp>
      </p:grpSp>
      <p:grpSp>
        <p:nvGrpSpPr>
          <p:cNvPr name="Group 671" id="671"/>
          <p:cNvGrpSpPr/>
          <p:nvPr/>
        </p:nvGrpSpPr>
        <p:grpSpPr>
          <a:xfrm rot="0">
            <a:off x="3467367" y="6056919"/>
            <a:ext cx="137265" cy="137265"/>
            <a:chOff x="0" y="0"/>
            <a:chExt cx="183020" cy="183020"/>
          </a:xfrm>
        </p:grpSpPr>
        <p:sp>
          <p:nvSpPr>
            <p:cNvPr name="Freeform 672" id="672"/>
            <p:cNvSpPr/>
            <p:nvPr/>
          </p:nvSpPr>
          <p:spPr>
            <a:xfrm flipH="false" flipV="false" rot="0">
              <a:off x="0" y="0"/>
              <a:ext cx="183007" cy="183007"/>
            </a:xfrm>
            <a:custGeom>
              <a:avLst/>
              <a:gdLst/>
              <a:ahLst/>
              <a:cxnLst/>
              <a:rect r="r" b="b" t="t" l="l"/>
              <a:pathLst>
                <a:path h="183007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C99A3F"/>
            </a:solidFill>
          </p:spPr>
        </p:sp>
      </p:grpSp>
      <p:grpSp>
        <p:nvGrpSpPr>
          <p:cNvPr name="Group 673" id="673"/>
          <p:cNvGrpSpPr/>
          <p:nvPr/>
        </p:nvGrpSpPr>
        <p:grpSpPr>
          <a:xfrm rot="0">
            <a:off x="3884666" y="6983473"/>
            <a:ext cx="137265" cy="137265"/>
            <a:chOff x="0" y="0"/>
            <a:chExt cx="183020" cy="183020"/>
          </a:xfrm>
        </p:grpSpPr>
        <p:sp>
          <p:nvSpPr>
            <p:cNvPr name="Freeform 674" id="674"/>
            <p:cNvSpPr/>
            <p:nvPr/>
          </p:nvSpPr>
          <p:spPr>
            <a:xfrm flipH="false" flipV="false" rot="0">
              <a:off x="0" y="0"/>
              <a:ext cx="183007" cy="183007"/>
            </a:xfrm>
            <a:custGeom>
              <a:avLst/>
              <a:gdLst/>
              <a:ahLst/>
              <a:cxnLst/>
              <a:rect r="r" b="b" t="t" l="l"/>
              <a:pathLst>
                <a:path h="183007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C99A3F"/>
            </a:solidFill>
          </p:spPr>
        </p:sp>
      </p:grpSp>
      <p:grpSp>
        <p:nvGrpSpPr>
          <p:cNvPr name="Group 675" id="675"/>
          <p:cNvGrpSpPr/>
          <p:nvPr/>
        </p:nvGrpSpPr>
        <p:grpSpPr>
          <a:xfrm rot="0">
            <a:off x="10144049" y="6983473"/>
            <a:ext cx="137265" cy="137265"/>
            <a:chOff x="0" y="0"/>
            <a:chExt cx="183020" cy="183020"/>
          </a:xfrm>
        </p:grpSpPr>
        <p:sp>
          <p:nvSpPr>
            <p:cNvPr name="Freeform 676" id="676"/>
            <p:cNvSpPr/>
            <p:nvPr/>
          </p:nvSpPr>
          <p:spPr>
            <a:xfrm flipH="false" flipV="false" rot="0">
              <a:off x="0" y="0"/>
              <a:ext cx="183007" cy="183007"/>
            </a:xfrm>
            <a:custGeom>
              <a:avLst/>
              <a:gdLst/>
              <a:ahLst/>
              <a:cxnLst/>
              <a:rect r="r" b="b" t="t" l="l"/>
              <a:pathLst>
                <a:path h="183007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C99A3F"/>
            </a:solidFill>
          </p:spPr>
        </p:sp>
      </p:grpSp>
      <p:grpSp>
        <p:nvGrpSpPr>
          <p:cNvPr name="Group 677" id="677"/>
          <p:cNvGrpSpPr/>
          <p:nvPr/>
        </p:nvGrpSpPr>
        <p:grpSpPr>
          <a:xfrm rot="0">
            <a:off x="10144049" y="7910027"/>
            <a:ext cx="137265" cy="137265"/>
            <a:chOff x="0" y="0"/>
            <a:chExt cx="183020" cy="183020"/>
          </a:xfrm>
        </p:grpSpPr>
        <p:sp>
          <p:nvSpPr>
            <p:cNvPr name="Freeform 678" id="678"/>
            <p:cNvSpPr/>
            <p:nvPr/>
          </p:nvSpPr>
          <p:spPr>
            <a:xfrm flipH="false" flipV="false" rot="0">
              <a:off x="0" y="0"/>
              <a:ext cx="183007" cy="183007"/>
            </a:xfrm>
            <a:custGeom>
              <a:avLst/>
              <a:gdLst/>
              <a:ahLst/>
              <a:cxnLst/>
              <a:rect r="r" b="b" t="t" l="l"/>
              <a:pathLst>
                <a:path h="183007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C99A3F"/>
            </a:solidFill>
          </p:spPr>
        </p:sp>
      </p:grpSp>
      <p:grpSp>
        <p:nvGrpSpPr>
          <p:cNvPr name="Group 679" id="679"/>
          <p:cNvGrpSpPr/>
          <p:nvPr/>
        </p:nvGrpSpPr>
        <p:grpSpPr>
          <a:xfrm rot="0">
            <a:off x="2632786" y="7910027"/>
            <a:ext cx="137265" cy="137265"/>
            <a:chOff x="0" y="0"/>
            <a:chExt cx="183020" cy="183020"/>
          </a:xfrm>
        </p:grpSpPr>
        <p:sp>
          <p:nvSpPr>
            <p:cNvPr name="Freeform 680" id="680"/>
            <p:cNvSpPr/>
            <p:nvPr/>
          </p:nvSpPr>
          <p:spPr>
            <a:xfrm flipH="false" flipV="false" rot="0">
              <a:off x="0" y="0"/>
              <a:ext cx="183007" cy="183007"/>
            </a:xfrm>
            <a:custGeom>
              <a:avLst/>
              <a:gdLst/>
              <a:ahLst/>
              <a:cxnLst/>
              <a:rect r="r" b="b" t="t" l="l"/>
              <a:pathLst>
                <a:path h="183007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C99A3F"/>
            </a:solidFill>
          </p:spPr>
        </p:sp>
      </p:grpSp>
      <p:grpSp>
        <p:nvGrpSpPr>
          <p:cNvPr name="Group 681" id="681"/>
          <p:cNvGrpSpPr/>
          <p:nvPr/>
        </p:nvGrpSpPr>
        <p:grpSpPr>
          <a:xfrm rot="0">
            <a:off x="2632786" y="8527723"/>
            <a:ext cx="137265" cy="137265"/>
            <a:chOff x="0" y="0"/>
            <a:chExt cx="183020" cy="183020"/>
          </a:xfrm>
        </p:grpSpPr>
        <p:sp>
          <p:nvSpPr>
            <p:cNvPr name="Freeform 682" id="682"/>
            <p:cNvSpPr/>
            <p:nvPr/>
          </p:nvSpPr>
          <p:spPr>
            <a:xfrm flipH="false" flipV="false" rot="0">
              <a:off x="0" y="0"/>
              <a:ext cx="183007" cy="183007"/>
            </a:xfrm>
            <a:custGeom>
              <a:avLst/>
              <a:gdLst/>
              <a:ahLst/>
              <a:cxnLst/>
              <a:rect r="r" b="b" t="t" l="l"/>
              <a:pathLst>
                <a:path h="183007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C99A3F"/>
            </a:solidFill>
          </p:spPr>
        </p:sp>
      </p:grpSp>
      <p:grpSp>
        <p:nvGrpSpPr>
          <p:cNvPr name="Group 683" id="683"/>
          <p:cNvGrpSpPr/>
          <p:nvPr/>
        </p:nvGrpSpPr>
        <p:grpSpPr>
          <a:xfrm rot="0">
            <a:off x="9309459" y="8527723"/>
            <a:ext cx="137265" cy="137265"/>
            <a:chOff x="0" y="0"/>
            <a:chExt cx="183020" cy="183020"/>
          </a:xfrm>
        </p:grpSpPr>
        <p:sp>
          <p:nvSpPr>
            <p:cNvPr name="Freeform 684" id="684"/>
            <p:cNvSpPr/>
            <p:nvPr/>
          </p:nvSpPr>
          <p:spPr>
            <a:xfrm flipH="false" flipV="false" rot="0">
              <a:off x="0" y="0"/>
              <a:ext cx="183007" cy="183007"/>
            </a:xfrm>
            <a:custGeom>
              <a:avLst/>
              <a:gdLst/>
              <a:ahLst/>
              <a:cxnLst/>
              <a:rect r="r" b="b" t="t" l="l"/>
              <a:pathLst>
                <a:path h="183007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C99A3F"/>
            </a:solidFill>
          </p:spPr>
        </p:sp>
      </p:grpSp>
      <p:grpSp>
        <p:nvGrpSpPr>
          <p:cNvPr name="Group 685" id="685"/>
          <p:cNvGrpSpPr/>
          <p:nvPr/>
        </p:nvGrpSpPr>
        <p:grpSpPr>
          <a:xfrm rot="0">
            <a:off x="5757710" y="7133130"/>
            <a:ext cx="256613" cy="256613"/>
            <a:chOff x="0" y="0"/>
            <a:chExt cx="342151" cy="342151"/>
          </a:xfrm>
        </p:grpSpPr>
        <p:sp>
          <p:nvSpPr>
            <p:cNvPr name="Freeform 686" id="686"/>
            <p:cNvSpPr/>
            <p:nvPr/>
          </p:nvSpPr>
          <p:spPr>
            <a:xfrm flipH="false" flipV="false" rot="0">
              <a:off x="6350" y="6350"/>
              <a:ext cx="329438" cy="329438"/>
            </a:xfrm>
            <a:custGeom>
              <a:avLst/>
              <a:gdLst/>
              <a:ahLst/>
              <a:cxnLst/>
              <a:rect r="r" b="b" t="t" l="l"/>
              <a:pathLst>
                <a:path h="329438" w="329438">
                  <a:moveTo>
                    <a:pt x="0" y="0"/>
                  </a:moveTo>
                  <a:lnTo>
                    <a:pt x="329438" y="0"/>
                  </a:lnTo>
                  <a:lnTo>
                    <a:pt x="329438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C99A3F"/>
            </a:solidFill>
          </p:spPr>
        </p:sp>
        <p:sp>
          <p:nvSpPr>
            <p:cNvPr name="Freeform 687" id="687"/>
            <p:cNvSpPr/>
            <p:nvPr/>
          </p:nvSpPr>
          <p:spPr>
            <a:xfrm flipH="false" flipV="false" rot="0">
              <a:off x="0" y="0"/>
              <a:ext cx="342138" cy="342138"/>
            </a:xfrm>
            <a:custGeom>
              <a:avLst/>
              <a:gdLst/>
              <a:ahLst/>
              <a:cxnLst/>
              <a:rect r="r" b="b" t="t" l="l"/>
              <a:pathLst>
                <a:path h="342138" w="342138">
                  <a:moveTo>
                    <a:pt x="6350" y="0"/>
                  </a:moveTo>
                  <a:lnTo>
                    <a:pt x="335788" y="0"/>
                  </a:lnTo>
                  <a:cubicBezTo>
                    <a:pt x="339344" y="0"/>
                    <a:pt x="342138" y="2794"/>
                    <a:pt x="342138" y="6350"/>
                  </a:cubicBezTo>
                  <a:lnTo>
                    <a:pt x="342138" y="335788"/>
                  </a:lnTo>
                  <a:cubicBezTo>
                    <a:pt x="342138" y="339344"/>
                    <a:pt x="339344" y="342138"/>
                    <a:pt x="335788" y="342138"/>
                  </a:cubicBezTo>
                  <a:lnTo>
                    <a:pt x="6350" y="342138"/>
                  </a:lnTo>
                  <a:cubicBezTo>
                    <a:pt x="2794" y="342138"/>
                    <a:pt x="0" y="339344"/>
                    <a:pt x="0" y="335788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35788"/>
                  </a:lnTo>
                  <a:lnTo>
                    <a:pt x="6350" y="335788"/>
                  </a:lnTo>
                  <a:lnTo>
                    <a:pt x="6350" y="329438"/>
                  </a:lnTo>
                  <a:lnTo>
                    <a:pt x="335788" y="329438"/>
                  </a:lnTo>
                  <a:lnTo>
                    <a:pt x="335788" y="335788"/>
                  </a:lnTo>
                  <a:lnTo>
                    <a:pt x="329438" y="335788"/>
                  </a:lnTo>
                  <a:lnTo>
                    <a:pt x="329438" y="6350"/>
                  </a:lnTo>
                  <a:lnTo>
                    <a:pt x="335788" y="6350"/>
                  </a:lnTo>
                  <a:lnTo>
                    <a:pt x="33578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sp>
        <p:nvSpPr>
          <p:cNvPr name="TextBox 688" id="688"/>
          <p:cNvSpPr txBox="true"/>
          <p:nvPr/>
        </p:nvSpPr>
        <p:spPr>
          <a:xfrm rot="0">
            <a:off x="1075220" y="5471636"/>
            <a:ext cx="3340237" cy="36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b="true" sz="1200" spc="450">
                <a:solidFill>
                  <a:srgbClr val="D44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● SURVEILLANCE</a:t>
            </a:r>
          </a:p>
        </p:txBody>
      </p:sp>
      <p:grpSp>
        <p:nvGrpSpPr>
          <p:cNvPr name="Group 689" id="689"/>
          <p:cNvGrpSpPr/>
          <p:nvPr/>
        </p:nvGrpSpPr>
        <p:grpSpPr>
          <a:xfrm rot="0">
            <a:off x="11457051" y="5348659"/>
            <a:ext cx="5912025" cy="1084793"/>
            <a:chOff x="0" y="0"/>
            <a:chExt cx="7882699" cy="1446390"/>
          </a:xfrm>
        </p:grpSpPr>
        <p:sp>
          <p:nvSpPr>
            <p:cNvPr name="Freeform 690" id="690"/>
            <p:cNvSpPr/>
            <p:nvPr/>
          </p:nvSpPr>
          <p:spPr>
            <a:xfrm flipH="false" flipV="false" rot="0">
              <a:off x="6350" y="6350"/>
              <a:ext cx="7869936" cy="1433703"/>
            </a:xfrm>
            <a:custGeom>
              <a:avLst/>
              <a:gdLst/>
              <a:ahLst/>
              <a:cxnLst/>
              <a:rect r="r" b="b" t="t" l="l"/>
              <a:pathLst>
                <a:path h="1433703" w="7869936">
                  <a:moveTo>
                    <a:pt x="0" y="0"/>
                  </a:moveTo>
                  <a:lnTo>
                    <a:pt x="7869936" y="0"/>
                  </a:lnTo>
                  <a:lnTo>
                    <a:pt x="7869936" y="1433703"/>
                  </a:lnTo>
                  <a:lnTo>
                    <a:pt x="0" y="1433703"/>
                  </a:lnTo>
                  <a:close/>
                </a:path>
              </a:pathLst>
            </a:custGeom>
            <a:solidFill>
              <a:srgbClr val="0A0A0A"/>
            </a:solidFill>
          </p:spPr>
        </p:sp>
        <p:sp>
          <p:nvSpPr>
            <p:cNvPr name="Freeform 691" id="691"/>
            <p:cNvSpPr/>
            <p:nvPr/>
          </p:nvSpPr>
          <p:spPr>
            <a:xfrm flipH="false" flipV="false" rot="0">
              <a:off x="0" y="0"/>
              <a:ext cx="7882636" cy="1446403"/>
            </a:xfrm>
            <a:custGeom>
              <a:avLst/>
              <a:gdLst/>
              <a:ahLst/>
              <a:cxnLst/>
              <a:rect r="r" b="b" t="t" l="l"/>
              <a:pathLst>
                <a:path h="1446403" w="7882636">
                  <a:moveTo>
                    <a:pt x="6350" y="0"/>
                  </a:moveTo>
                  <a:lnTo>
                    <a:pt x="7876286" y="0"/>
                  </a:lnTo>
                  <a:cubicBezTo>
                    <a:pt x="7879842" y="0"/>
                    <a:pt x="7882636" y="2794"/>
                    <a:pt x="7882636" y="6350"/>
                  </a:cubicBezTo>
                  <a:lnTo>
                    <a:pt x="7882636" y="1440053"/>
                  </a:lnTo>
                  <a:cubicBezTo>
                    <a:pt x="7882636" y="1443609"/>
                    <a:pt x="7879842" y="1446403"/>
                    <a:pt x="7876286" y="1446403"/>
                  </a:cubicBezTo>
                  <a:lnTo>
                    <a:pt x="6350" y="1446403"/>
                  </a:lnTo>
                  <a:cubicBezTo>
                    <a:pt x="2794" y="1446403"/>
                    <a:pt x="0" y="1443609"/>
                    <a:pt x="0" y="144005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440053"/>
                  </a:lnTo>
                  <a:lnTo>
                    <a:pt x="6350" y="1440053"/>
                  </a:lnTo>
                  <a:lnTo>
                    <a:pt x="6350" y="1433703"/>
                  </a:lnTo>
                  <a:lnTo>
                    <a:pt x="7876286" y="1433703"/>
                  </a:lnTo>
                  <a:lnTo>
                    <a:pt x="7876286" y="1440053"/>
                  </a:lnTo>
                  <a:lnTo>
                    <a:pt x="7869936" y="1440053"/>
                  </a:lnTo>
                  <a:lnTo>
                    <a:pt x="7869936" y="6350"/>
                  </a:lnTo>
                  <a:lnTo>
                    <a:pt x="7876286" y="6350"/>
                  </a:lnTo>
                  <a:lnTo>
                    <a:pt x="787628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692" id="692"/>
          <p:cNvSpPr txBox="true"/>
          <p:nvPr/>
        </p:nvSpPr>
        <p:spPr>
          <a:xfrm rot="0">
            <a:off x="11713435" y="5434660"/>
            <a:ext cx="5536521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b="true" sz="1200" spc="45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CONDITIONS MÉTÉO</a:t>
            </a:r>
          </a:p>
        </p:txBody>
      </p:sp>
      <p:sp>
        <p:nvSpPr>
          <p:cNvPr name="TextBox 693" id="693"/>
          <p:cNvSpPr txBox="true"/>
          <p:nvPr/>
        </p:nvSpPr>
        <p:spPr>
          <a:xfrm rot="0">
            <a:off x="11713435" y="5864390"/>
            <a:ext cx="1967570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7F3EC"/>
                </a:solidFill>
                <a:latin typeface="Consolas Bold"/>
                <a:ea typeface="Consolas Bold"/>
                <a:cs typeface="Consolas Bold"/>
                <a:sym typeface="Consolas Bold"/>
              </a:rPr>
              <a:t>T° 28.4</a:t>
            </a:r>
          </a:p>
        </p:txBody>
      </p:sp>
      <p:sp>
        <p:nvSpPr>
          <p:cNvPr name="TextBox 694" id="694"/>
          <p:cNvSpPr txBox="true"/>
          <p:nvPr/>
        </p:nvSpPr>
        <p:spPr>
          <a:xfrm rot="0">
            <a:off x="11713435" y="6138929"/>
            <a:ext cx="1967570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7F3EC"/>
                </a:solidFill>
                <a:latin typeface="Consolas Bold"/>
                <a:ea typeface="Consolas Bold"/>
                <a:cs typeface="Consolas Bold"/>
                <a:sym typeface="Consolas Bold"/>
              </a:rPr>
              <a:t>RH 35%</a:t>
            </a:r>
          </a:p>
        </p:txBody>
      </p:sp>
      <p:sp>
        <p:nvSpPr>
          <p:cNvPr name="TextBox 695" id="695"/>
          <p:cNvSpPr txBox="true"/>
          <p:nvPr/>
        </p:nvSpPr>
        <p:spPr>
          <a:xfrm rot="0">
            <a:off x="13703808" y="5864390"/>
            <a:ext cx="1967570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7F3EC"/>
                </a:solidFill>
                <a:latin typeface="Consolas Bold"/>
                <a:ea typeface="Consolas Bold"/>
                <a:cs typeface="Consolas Bold"/>
                <a:sym typeface="Consolas Bold"/>
              </a:rPr>
              <a:t>Vent 5.2</a:t>
            </a:r>
          </a:p>
        </p:txBody>
      </p:sp>
      <p:sp>
        <p:nvSpPr>
          <p:cNvPr name="TextBox 696" id="696"/>
          <p:cNvSpPr txBox="true"/>
          <p:nvPr/>
        </p:nvSpPr>
        <p:spPr>
          <a:xfrm rot="0">
            <a:off x="13703808" y="6138929"/>
            <a:ext cx="1967570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7F3EC"/>
                </a:solidFill>
                <a:latin typeface="Consolas Bold"/>
                <a:ea typeface="Consolas Bold"/>
                <a:cs typeface="Consolas Bold"/>
                <a:sym typeface="Consolas Bold"/>
              </a:rPr>
              <a:t>270°</a:t>
            </a:r>
          </a:p>
        </p:txBody>
      </p:sp>
      <p:grpSp>
        <p:nvGrpSpPr>
          <p:cNvPr name="Group 697" id="697"/>
          <p:cNvGrpSpPr/>
          <p:nvPr/>
        </p:nvGrpSpPr>
        <p:grpSpPr>
          <a:xfrm rot="0">
            <a:off x="11454670" y="6490164"/>
            <a:ext cx="5916787" cy="1089555"/>
            <a:chOff x="0" y="0"/>
            <a:chExt cx="7889049" cy="1452740"/>
          </a:xfrm>
        </p:grpSpPr>
        <p:sp>
          <p:nvSpPr>
            <p:cNvPr name="Freeform 698" id="698"/>
            <p:cNvSpPr/>
            <p:nvPr/>
          </p:nvSpPr>
          <p:spPr>
            <a:xfrm flipH="false" flipV="false" rot="0">
              <a:off x="9525" y="9525"/>
              <a:ext cx="7869936" cy="1433703"/>
            </a:xfrm>
            <a:custGeom>
              <a:avLst/>
              <a:gdLst/>
              <a:ahLst/>
              <a:cxnLst/>
              <a:rect r="r" b="b" t="t" l="l"/>
              <a:pathLst>
                <a:path h="1433703" w="7869936">
                  <a:moveTo>
                    <a:pt x="0" y="0"/>
                  </a:moveTo>
                  <a:lnTo>
                    <a:pt x="7869936" y="0"/>
                  </a:lnTo>
                  <a:lnTo>
                    <a:pt x="7869936" y="1433703"/>
                  </a:lnTo>
                  <a:lnTo>
                    <a:pt x="0" y="1433703"/>
                  </a:lnTo>
                  <a:close/>
                </a:path>
              </a:pathLst>
            </a:custGeom>
            <a:solidFill>
              <a:srgbClr val="0A0A0A"/>
            </a:solidFill>
          </p:spPr>
        </p:sp>
        <p:sp>
          <p:nvSpPr>
            <p:cNvPr name="Freeform 699" id="699"/>
            <p:cNvSpPr/>
            <p:nvPr/>
          </p:nvSpPr>
          <p:spPr>
            <a:xfrm flipH="false" flipV="false" rot="0">
              <a:off x="0" y="0"/>
              <a:ext cx="7888986" cy="1452753"/>
            </a:xfrm>
            <a:custGeom>
              <a:avLst/>
              <a:gdLst/>
              <a:ahLst/>
              <a:cxnLst/>
              <a:rect r="r" b="b" t="t" l="l"/>
              <a:pathLst>
                <a:path h="1452753" w="7888986">
                  <a:moveTo>
                    <a:pt x="9525" y="0"/>
                  </a:moveTo>
                  <a:lnTo>
                    <a:pt x="7879461" y="0"/>
                  </a:lnTo>
                  <a:cubicBezTo>
                    <a:pt x="7884668" y="0"/>
                    <a:pt x="7888986" y="4318"/>
                    <a:pt x="7888986" y="9525"/>
                  </a:cubicBezTo>
                  <a:lnTo>
                    <a:pt x="7888986" y="1443228"/>
                  </a:lnTo>
                  <a:cubicBezTo>
                    <a:pt x="7888986" y="1448435"/>
                    <a:pt x="7884668" y="1452753"/>
                    <a:pt x="7879461" y="1452753"/>
                  </a:cubicBezTo>
                  <a:lnTo>
                    <a:pt x="9525" y="1452753"/>
                  </a:lnTo>
                  <a:cubicBezTo>
                    <a:pt x="4318" y="1452753"/>
                    <a:pt x="0" y="1448435"/>
                    <a:pt x="0" y="144322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443228"/>
                  </a:lnTo>
                  <a:lnTo>
                    <a:pt x="9525" y="1443228"/>
                  </a:lnTo>
                  <a:lnTo>
                    <a:pt x="9525" y="1433703"/>
                  </a:lnTo>
                  <a:lnTo>
                    <a:pt x="7879461" y="1433703"/>
                  </a:lnTo>
                  <a:lnTo>
                    <a:pt x="7879461" y="1443228"/>
                  </a:lnTo>
                  <a:lnTo>
                    <a:pt x="7869936" y="1443228"/>
                  </a:lnTo>
                  <a:lnTo>
                    <a:pt x="7869936" y="9525"/>
                  </a:lnTo>
                  <a:lnTo>
                    <a:pt x="7879461" y="9525"/>
                  </a:lnTo>
                  <a:lnTo>
                    <a:pt x="787946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700" id="700"/>
          <p:cNvSpPr txBox="true"/>
          <p:nvPr/>
        </p:nvSpPr>
        <p:spPr>
          <a:xfrm rot="0">
            <a:off x="11713435" y="6578556"/>
            <a:ext cx="5536521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b="true" sz="1200" spc="45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INDICE DE RISQUE</a:t>
            </a:r>
          </a:p>
        </p:txBody>
      </p:sp>
      <p:sp>
        <p:nvSpPr>
          <p:cNvPr name="TextBox 701" id="701"/>
          <p:cNvSpPr txBox="true"/>
          <p:nvPr/>
        </p:nvSpPr>
        <p:spPr>
          <a:xfrm rot="0">
            <a:off x="11713435" y="6927047"/>
            <a:ext cx="1693031" cy="76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7F3EC"/>
                </a:solidFill>
                <a:latin typeface="Georgia Bold"/>
                <a:ea typeface="Georgia Bold"/>
                <a:cs typeface="Georgia Bold"/>
                <a:sym typeface="Georgia Bold"/>
              </a:rPr>
              <a:t>63</a:t>
            </a:r>
          </a:p>
        </p:txBody>
      </p:sp>
      <p:sp>
        <p:nvSpPr>
          <p:cNvPr name="TextBox 702" id="702"/>
          <p:cNvSpPr txBox="true"/>
          <p:nvPr/>
        </p:nvSpPr>
        <p:spPr>
          <a:xfrm rot="0">
            <a:off x="13429278" y="7155075"/>
            <a:ext cx="1006697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/100</a:t>
            </a:r>
          </a:p>
        </p:txBody>
      </p:sp>
      <p:grpSp>
        <p:nvGrpSpPr>
          <p:cNvPr name="Group 703" id="703"/>
          <p:cNvGrpSpPr/>
          <p:nvPr/>
        </p:nvGrpSpPr>
        <p:grpSpPr>
          <a:xfrm rot="0">
            <a:off x="14611807" y="7039232"/>
            <a:ext cx="1318336" cy="453552"/>
            <a:chOff x="0" y="0"/>
            <a:chExt cx="1757782" cy="604736"/>
          </a:xfrm>
        </p:grpSpPr>
        <p:sp>
          <p:nvSpPr>
            <p:cNvPr name="Freeform 704" id="704"/>
            <p:cNvSpPr/>
            <p:nvPr/>
          </p:nvSpPr>
          <p:spPr>
            <a:xfrm flipH="false" flipV="false" rot="0">
              <a:off x="9525" y="9525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D44A1A"/>
            </a:solidFill>
          </p:spPr>
        </p:sp>
        <p:sp>
          <p:nvSpPr>
            <p:cNvPr name="Freeform 705" id="705"/>
            <p:cNvSpPr/>
            <p:nvPr/>
          </p:nvSpPr>
          <p:spPr>
            <a:xfrm flipH="false" flipV="false" rot="0">
              <a:off x="0" y="0"/>
              <a:ext cx="1757807" cy="604774"/>
            </a:xfrm>
            <a:custGeom>
              <a:avLst/>
              <a:gdLst/>
              <a:ahLst/>
              <a:cxnLst/>
              <a:rect r="r" b="b" t="t" l="l"/>
              <a:pathLst>
                <a:path h="604774" w="1757807">
                  <a:moveTo>
                    <a:pt x="9525" y="0"/>
                  </a:moveTo>
                  <a:lnTo>
                    <a:pt x="1748282" y="0"/>
                  </a:lnTo>
                  <a:cubicBezTo>
                    <a:pt x="1753489" y="0"/>
                    <a:pt x="1757807" y="4318"/>
                    <a:pt x="1757807" y="9525"/>
                  </a:cubicBezTo>
                  <a:lnTo>
                    <a:pt x="1757807" y="595249"/>
                  </a:lnTo>
                  <a:cubicBezTo>
                    <a:pt x="1757807" y="600456"/>
                    <a:pt x="1753489" y="604774"/>
                    <a:pt x="1748282" y="604774"/>
                  </a:cubicBezTo>
                  <a:lnTo>
                    <a:pt x="9525" y="604774"/>
                  </a:lnTo>
                  <a:cubicBezTo>
                    <a:pt x="4318" y="604774"/>
                    <a:pt x="0" y="600456"/>
                    <a:pt x="0" y="59524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95249"/>
                  </a:lnTo>
                  <a:lnTo>
                    <a:pt x="9525" y="595249"/>
                  </a:lnTo>
                  <a:lnTo>
                    <a:pt x="9525" y="585724"/>
                  </a:lnTo>
                  <a:lnTo>
                    <a:pt x="1748282" y="585724"/>
                  </a:lnTo>
                  <a:lnTo>
                    <a:pt x="1748282" y="595249"/>
                  </a:lnTo>
                  <a:lnTo>
                    <a:pt x="1738757" y="595249"/>
                  </a:lnTo>
                  <a:lnTo>
                    <a:pt x="1738757" y="9525"/>
                  </a:lnTo>
                  <a:lnTo>
                    <a:pt x="1748282" y="9525"/>
                  </a:lnTo>
                  <a:lnTo>
                    <a:pt x="1748282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706" id="706"/>
          <p:cNvGrpSpPr/>
          <p:nvPr/>
        </p:nvGrpSpPr>
        <p:grpSpPr>
          <a:xfrm rot="0">
            <a:off x="14618960" y="7046385"/>
            <a:ext cx="1304039" cy="439255"/>
            <a:chOff x="0" y="0"/>
            <a:chExt cx="1738719" cy="585673"/>
          </a:xfrm>
        </p:grpSpPr>
        <p:sp>
          <p:nvSpPr>
            <p:cNvPr name="Freeform 707" id="707"/>
            <p:cNvSpPr/>
            <p:nvPr/>
          </p:nvSpPr>
          <p:spPr>
            <a:xfrm flipH="false" flipV="false" rot="0">
              <a:off x="0" y="0"/>
              <a:ext cx="1738718" cy="585674"/>
            </a:xfrm>
            <a:custGeom>
              <a:avLst/>
              <a:gdLst/>
              <a:ahLst/>
              <a:cxnLst/>
              <a:rect r="r" b="b" t="t" l="l"/>
              <a:pathLst>
                <a:path h="585674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708" id="708"/>
            <p:cNvSpPr txBox="true"/>
            <p:nvPr/>
          </p:nvSpPr>
          <p:spPr>
            <a:xfrm>
              <a:off x="0" y="-38100"/>
              <a:ext cx="1738719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b="true" sz="1501" spc="300">
                  <a:solidFill>
                    <a:srgbClr val="F7F3E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ÉLEVÉ</a:t>
              </a:r>
            </a:p>
          </p:txBody>
        </p:sp>
      </p:grpSp>
      <p:grpSp>
        <p:nvGrpSpPr>
          <p:cNvPr name="Group 709" id="709"/>
          <p:cNvGrpSpPr/>
          <p:nvPr/>
        </p:nvGrpSpPr>
        <p:grpSpPr>
          <a:xfrm rot="0">
            <a:off x="11457051" y="7636440"/>
            <a:ext cx="5912025" cy="1084793"/>
            <a:chOff x="0" y="0"/>
            <a:chExt cx="7882699" cy="1446390"/>
          </a:xfrm>
        </p:grpSpPr>
        <p:sp>
          <p:nvSpPr>
            <p:cNvPr name="Freeform 710" id="710"/>
            <p:cNvSpPr/>
            <p:nvPr/>
          </p:nvSpPr>
          <p:spPr>
            <a:xfrm flipH="false" flipV="false" rot="0">
              <a:off x="6350" y="6350"/>
              <a:ext cx="7869936" cy="1433703"/>
            </a:xfrm>
            <a:custGeom>
              <a:avLst/>
              <a:gdLst/>
              <a:ahLst/>
              <a:cxnLst/>
              <a:rect r="r" b="b" t="t" l="l"/>
              <a:pathLst>
                <a:path h="1433703" w="7869936">
                  <a:moveTo>
                    <a:pt x="0" y="0"/>
                  </a:moveTo>
                  <a:lnTo>
                    <a:pt x="7869936" y="0"/>
                  </a:lnTo>
                  <a:lnTo>
                    <a:pt x="7869936" y="1433703"/>
                  </a:lnTo>
                  <a:lnTo>
                    <a:pt x="0" y="1433703"/>
                  </a:lnTo>
                  <a:close/>
                </a:path>
              </a:pathLst>
            </a:custGeom>
            <a:solidFill>
              <a:srgbClr val="0A0A0A"/>
            </a:solidFill>
          </p:spPr>
        </p:sp>
        <p:sp>
          <p:nvSpPr>
            <p:cNvPr name="Freeform 711" id="711"/>
            <p:cNvSpPr/>
            <p:nvPr/>
          </p:nvSpPr>
          <p:spPr>
            <a:xfrm flipH="false" flipV="false" rot="0">
              <a:off x="0" y="0"/>
              <a:ext cx="7882636" cy="1446403"/>
            </a:xfrm>
            <a:custGeom>
              <a:avLst/>
              <a:gdLst/>
              <a:ahLst/>
              <a:cxnLst/>
              <a:rect r="r" b="b" t="t" l="l"/>
              <a:pathLst>
                <a:path h="1446403" w="7882636">
                  <a:moveTo>
                    <a:pt x="6350" y="0"/>
                  </a:moveTo>
                  <a:lnTo>
                    <a:pt x="7876286" y="0"/>
                  </a:lnTo>
                  <a:cubicBezTo>
                    <a:pt x="7879842" y="0"/>
                    <a:pt x="7882636" y="2794"/>
                    <a:pt x="7882636" y="6350"/>
                  </a:cubicBezTo>
                  <a:lnTo>
                    <a:pt x="7882636" y="1440053"/>
                  </a:lnTo>
                  <a:cubicBezTo>
                    <a:pt x="7882636" y="1443609"/>
                    <a:pt x="7879842" y="1446403"/>
                    <a:pt x="7876286" y="1446403"/>
                  </a:cubicBezTo>
                  <a:lnTo>
                    <a:pt x="6350" y="1446403"/>
                  </a:lnTo>
                  <a:cubicBezTo>
                    <a:pt x="2794" y="1446403"/>
                    <a:pt x="0" y="1443609"/>
                    <a:pt x="0" y="144005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440053"/>
                  </a:lnTo>
                  <a:lnTo>
                    <a:pt x="6350" y="1440053"/>
                  </a:lnTo>
                  <a:lnTo>
                    <a:pt x="6350" y="1433703"/>
                  </a:lnTo>
                  <a:lnTo>
                    <a:pt x="7876286" y="1433703"/>
                  </a:lnTo>
                  <a:lnTo>
                    <a:pt x="7876286" y="1440053"/>
                  </a:lnTo>
                  <a:lnTo>
                    <a:pt x="7869936" y="1440053"/>
                  </a:lnTo>
                  <a:lnTo>
                    <a:pt x="7869936" y="6350"/>
                  </a:lnTo>
                  <a:lnTo>
                    <a:pt x="7876286" y="6350"/>
                  </a:lnTo>
                  <a:lnTo>
                    <a:pt x="787628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712" id="712"/>
          <p:cNvSpPr txBox="true"/>
          <p:nvPr/>
        </p:nvSpPr>
        <p:spPr>
          <a:xfrm rot="0">
            <a:off x="11713435" y="7722451"/>
            <a:ext cx="5536521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b="true" sz="1200" spc="450">
                <a:solidFill>
                  <a:srgbClr val="C99A3F"/>
                </a:solidFill>
                <a:latin typeface="Consolas Bold"/>
                <a:ea typeface="Consolas Bold"/>
                <a:cs typeface="Consolas Bold"/>
                <a:sym typeface="Consolas Bold"/>
              </a:rPr>
              <a:t>SIMULATION ACTIVE</a:t>
            </a:r>
          </a:p>
        </p:txBody>
      </p:sp>
      <p:sp>
        <p:nvSpPr>
          <p:cNvPr name="TextBox 713" id="713"/>
          <p:cNvSpPr txBox="true"/>
          <p:nvPr/>
        </p:nvSpPr>
        <p:spPr>
          <a:xfrm rot="0">
            <a:off x="11713435" y="8093069"/>
            <a:ext cx="2653903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7F3EC"/>
                </a:solidFill>
                <a:latin typeface="Consolas Bold"/>
                <a:ea typeface="Consolas Bold"/>
                <a:cs typeface="Consolas Bold"/>
                <a:sym typeface="Consolas Bold"/>
              </a:rPr>
              <a:t>t = 12 min</a:t>
            </a:r>
          </a:p>
        </p:txBody>
      </p:sp>
      <p:sp>
        <p:nvSpPr>
          <p:cNvPr name="TextBox 714" id="714"/>
          <p:cNvSpPr txBox="true"/>
          <p:nvPr/>
        </p:nvSpPr>
        <p:spPr>
          <a:xfrm rot="0">
            <a:off x="11713435" y="8436235"/>
            <a:ext cx="3340237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0.42 ha brûlés</a:t>
            </a:r>
          </a:p>
        </p:txBody>
      </p:sp>
      <p:sp>
        <p:nvSpPr>
          <p:cNvPr name="TextBox 715" id="715"/>
          <p:cNvSpPr txBox="true"/>
          <p:nvPr/>
        </p:nvSpPr>
        <p:spPr>
          <a:xfrm rot="0">
            <a:off x="732053" y="9374229"/>
            <a:ext cx="16792432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i="true">
                <a:solidFill>
                  <a:srgbClr val="8E8B8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Capture d'écran du dashboard sur données réelles Open-Meteo. Cliquer sur la carte allume une simulation.</a:t>
            </a:r>
          </a:p>
        </p:txBody>
      </p:sp>
      <p:sp>
        <p:nvSpPr>
          <p:cNvPr name="AutoShape 716" id="716"/>
          <p:cNvSpPr/>
          <p:nvPr/>
        </p:nvSpPr>
        <p:spPr>
          <a:xfrm rot="1920">
            <a:off x="681571" y="9672580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17" id="717"/>
          <p:cNvSpPr txBox="true"/>
          <p:nvPr/>
        </p:nvSpPr>
        <p:spPr>
          <a:xfrm rot="0">
            <a:off x="732053" y="9758582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ÉCOLE CENTRALE CASABLANCA — LEARNING BY DOING — GROUPE 7</a:t>
            </a:r>
          </a:p>
        </p:txBody>
      </p:sp>
      <p:sp>
        <p:nvSpPr>
          <p:cNvPr name="TextBox 718" id="718"/>
          <p:cNvSpPr txBox="true"/>
          <p:nvPr/>
        </p:nvSpPr>
        <p:spPr>
          <a:xfrm rot="0">
            <a:off x="10340759" y="9758582"/>
            <a:ext cx="7224903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b="true" sz="1200" spc="300">
                <a:solidFill>
                  <a:srgbClr val="141414"/>
                </a:solidFill>
                <a:latin typeface="Consolas Bold"/>
                <a:ea typeface="Consolas Bold"/>
                <a:cs typeface="Consolas Bold"/>
                <a:sym typeface="Consolas Bold"/>
              </a:rPr>
              <a:t>P. 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053" y="383229"/>
            <a:ext cx="5399246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053" y="754971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86112" y="383229"/>
            <a:ext cx="4850178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450">
                <a:solidFill>
                  <a:srgbClr val="D44A1A"/>
                </a:solidFill>
                <a:latin typeface="Consolas"/>
                <a:ea typeface="Consolas"/>
                <a:cs typeface="Consolas"/>
                <a:sym typeface="Consolas"/>
              </a:rPr>
              <a:t>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754971"/>
            <a:ext cx="4850178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b="true" sz="1651" spc="45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P. 10 / 14</a:t>
            </a:r>
          </a:p>
        </p:txBody>
      </p:sp>
      <p:sp>
        <p:nvSpPr>
          <p:cNvPr name="AutoShape 8" id="8"/>
          <p:cNvSpPr/>
          <p:nvPr/>
        </p:nvSpPr>
        <p:spPr>
          <a:xfrm rot="1920">
            <a:off x="681571" y="1299277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32053" y="1637681"/>
            <a:ext cx="1830305" cy="117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7"/>
              </a:lnSpc>
            </a:pPr>
            <a:r>
              <a:rPr lang="en-US" sz="7806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259" y="1883645"/>
            <a:ext cx="539924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MACHINE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9259" y="2324014"/>
            <a:ext cx="15007952" cy="138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Trois axes complémentaires.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79259" y="3336427"/>
            <a:ext cx="15007952" cy="78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1951" i="true">
                <a:solidFill>
                  <a:srgbClr val="333333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Chaque axe attaque une source de données différente — et ils s'alimentent mutuellement.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1571" y="4525051"/>
            <a:ext cx="5637486" cy="4813887"/>
            <a:chOff x="0" y="0"/>
            <a:chExt cx="7516647" cy="64185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7503922" cy="6405753"/>
            </a:xfrm>
            <a:custGeom>
              <a:avLst/>
              <a:gdLst/>
              <a:ahLst/>
              <a:cxnLst/>
              <a:rect r="r" b="b" t="t" l="l"/>
              <a:pathLst>
                <a:path h="6405753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6405753"/>
                  </a:lnTo>
                  <a:lnTo>
                    <a:pt x="0" y="6405753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16622" cy="6418453"/>
            </a:xfrm>
            <a:custGeom>
              <a:avLst/>
              <a:gdLst/>
              <a:ahLst/>
              <a:cxnLst/>
              <a:rect r="r" b="b" t="t" l="l"/>
              <a:pathLst>
                <a:path h="6418453" w="7516622">
                  <a:moveTo>
                    <a:pt x="6350" y="0"/>
                  </a:moveTo>
                  <a:lnTo>
                    <a:pt x="7510272" y="0"/>
                  </a:lnTo>
                  <a:cubicBezTo>
                    <a:pt x="7513828" y="0"/>
                    <a:pt x="7516622" y="2794"/>
                    <a:pt x="7516622" y="6350"/>
                  </a:cubicBezTo>
                  <a:lnTo>
                    <a:pt x="7516622" y="6412103"/>
                  </a:lnTo>
                  <a:cubicBezTo>
                    <a:pt x="7516622" y="6415659"/>
                    <a:pt x="7513828" y="6418453"/>
                    <a:pt x="7510272" y="6418453"/>
                  </a:cubicBezTo>
                  <a:lnTo>
                    <a:pt x="6350" y="6418453"/>
                  </a:lnTo>
                  <a:cubicBezTo>
                    <a:pt x="2794" y="6418453"/>
                    <a:pt x="0" y="6415659"/>
                    <a:pt x="0" y="641210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6412103"/>
                  </a:lnTo>
                  <a:lnTo>
                    <a:pt x="6350" y="6412103"/>
                  </a:lnTo>
                  <a:lnTo>
                    <a:pt x="6350" y="6405753"/>
                  </a:lnTo>
                  <a:lnTo>
                    <a:pt x="7510272" y="6405753"/>
                  </a:lnTo>
                  <a:lnTo>
                    <a:pt x="7510272" y="6412103"/>
                  </a:lnTo>
                  <a:lnTo>
                    <a:pt x="7503922" y="6412103"/>
                  </a:lnTo>
                  <a:lnTo>
                    <a:pt x="7503922" y="6350"/>
                  </a:lnTo>
                  <a:lnTo>
                    <a:pt x="7510272" y="6350"/>
                  </a:lnTo>
                  <a:lnTo>
                    <a:pt x="751027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6333" y="4529823"/>
            <a:ext cx="5627951" cy="109814"/>
            <a:chOff x="0" y="0"/>
            <a:chExt cx="7503935" cy="1464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03922" cy="146431"/>
            </a:xfrm>
            <a:custGeom>
              <a:avLst/>
              <a:gdLst/>
              <a:ahLst/>
              <a:cxnLst/>
              <a:rect r="r" b="b" t="t" l="l"/>
              <a:pathLst>
                <a:path h="146431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43857" y="4863465"/>
            <a:ext cx="869432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3D5C37"/>
                </a:solidFill>
                <a:latin typeface="Georgia Bold"/>
                <a:ea typeface="Georgia Bold"/>
                <a:cs typeface="Georgia Bold"/>
                <a:sym typeface="Georgia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04730" y="4876067"/>
            <a:ext cx="4026579" cy="5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450">
                <a:solidFill>
                  <a:srgbClr val="141414"/>
                </a:solidFill>
                <a:latin typeface="Consolas Bold"/>
                <a:ea typeface="Consolas Bold"/>
                <a:cs typeface="Consolas Bold"/>
                <a:sym typeface="Consolas Bold"/>
              </a:rPr>
              <a:t>CLASSIFICATION DU RISQUE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3857" y="5696588"/>
            <a:ext cx="4712913" cy="68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D5C37"/>
                </a:solidFill>
                <a:latin typeface="Georgia Bold"/>
                <a:ea typeface="Georgia Bold"/>
                <a:cs typeface="Georgia Bold"/>
                <a:sym typeface="Georgia Bold"/>
              </a:rPr>
              <a:t>XGBoost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98137" y="6520196"/>
            <a:ext cx="549069" cy="34319"/>
            <a:chOff x="0" y="0"/>
            <a:chExt cx="732092" cy="457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2155" cy="45720"/>
            </a:xfrm>
            <a:custGeom>
              <a:avLst/>
              <a:gdLst/>
              <a:ahLst/>
              <a:cxnLst/>
              <a:rect r="r" b="b" t="t" l="l"/>
              <a:pathLst>
                <a:path h="45720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43857" y="6611798"/>
            <a:ext cx="4712913" cy="203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5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Sur features tabulaires (T°, RH, vent, NDVI, pente, VPD, DFMC). Surclasse le deep learning sur ce type de données. Inspiré de Moumane et al. 2025.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3857" y="8413356"/>
            <a:ext cx="4712913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8E8B8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Dataset : Kaggle Forest Fires + ERA5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98137" y="8853735"/>
            <a:ext cx="2470814" cy="343167"/>
            <a:chOff x="0" y="0"/>
            <a:chExt cx="3294418" cy="4575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8137" y="8853735"/>
            <a:ext cx="2470814" cy="343167"/>
            <a:chOff x="0" y="0"/>
            <a:chExt cx="3294418" cy="4575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94414" cy="457557"/>
            </a:xfrm>
            <a:custGeom>
              <a:avLst/>
              <a:gdLst/>
              <a:ahLst/>
              <a:cxnLst/>
              <a:rect r="r" b="b" t="t" l="l"/>
              <a:pathLst>
                <a:path h="45755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3294418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300">
                  <a:solidFill>
                    <a:srgbClr val="F7F3E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PROTOTYPE PRÊT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378159" y="4525051"/>
            <a:ext cx="5637486" cy="4813887"/>
            <a:chOff x="0" y="0"/>
            <a:chExt cx="7516647" cy="64185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350" y="6350"/>
              <a:ext cx="7503922" cy="6405753"/>
            </a:xfrm>
            <a:custGeom>
              <a:avLst/>
              <a:gdLst/>
              <a:ahLst/>
              <a:cxnLst/>
              <a:rect r="r" b="b" t="t" l="l"/>
              <a:pathLst>
                <a:path h="6405753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6405753"/>
                  </a:lnTo>
                  <a:lnTo>
                    <a:pt x="0" y="6405753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516622" cy="6418453"/>
            </a:xfrm>
            <a:custGeom>
              <a:avLst/>
              <a:gdLst/>
              <a:ahLst/>
              <a:cxnLst/>
              <a:rect r="r" b="b" t="t" l="l"/>
              <a:pathLst>
                <a:path h="6418453" w="7516622">
                  <a:moveTo>
                    <a:pt x="6350" y="0"/>
                  </a:moveTo>
                  <a:lnTo>
                    <a:pt x="7510272" y="0"/>
                  </a:lnTo>
                  <a:cubicBezTo>
                    <a:pt x="7513828" y="0"/>
                    <a:pt x="7516622" y="2794"/>
                    <a:pt x="7516622" y="6350"/>
                  </a:cubicBezTo>
                  <a:lnTo>
                    <a:pt x="7516622" y="6412103"/>
                  </a:lnTo>
                  <a:cubicBezTo>
                    <a:pt x="7516622" y="6415659"/>
                    <a:pt x="7513828" y="6418453"/>
                    <a:pt x="7510272" y="6418453"/>
                  </a:cubicBezTo>
                  <a:lnTo>
                    <a:pt x="6350" y="6418453"/>
                  </a:lnTo>
                  <a:cubicBezTo>
                    <a:pt x="2794" y="6418453"/>
                    <a:pt x="0" y="6415659"/>
                    <a:pt x="0" y="641210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6412103"/>
                  </a:lnTo>
                  <a:lnTo>
                    <a:pt x="6350" y="6412103"/>
                  </a:lnTo>
                  <a:lnTo>
                    <a:pt x="6350" y="6405753"/>
                  </a:lnTo>
                  <a:lnTo>
                    <a:pt x="7510272" y="6405753"/>
                  </a:lnTo>
                  <a:lnTo>
                    <a:pt x="7510272" y="6412103"/>
                  </a:lnTo>
                  <a:lnTo>
                    <a:pt x="7503922" y="6412103"/>
                  </a:lnTo>
                  <a:lnTo>
                    <a:pt x="7503922" y="6350"/>
                  </a:lnTo>
                  <a:lnTo>
                    <a:pt x="7510272" y="6350"/>
                  </a:lnTo>
                  <a:lnTo>
                    <a:pt x="751027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382922" y="4529823"/>
            <a:ext cx="5627951" cy="109814"/>
            <a:chOff x="0" y="0"/>
            <a:chExt cx="7503935" cy="14641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03922" cy="146431"/>
            </a:xfrm>
            <a:custGeom>
              <a:avLst/>
              <a:gdLst/>
              <a:ahLst/>
              <a:cxnLst/>
              <a:rect r="r" b="b" t="t" l="l"/>
              <a:pathLst>
                <a:path h="146431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6840445" y="4863465"/>
            <a:ext cx="869432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01318" y="4876067"/>
            <a:ext cx="4026579" cy="5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450">
                <a:solidFill>
                  <a:srgbClr val="141414"/>
                </a:solidFill>
                <a:latin typeface="Consolas Bold"/>
                <a:ea typeface="Consolas Bold"/>
                <a:cs typeface="Consolas Bold"/>
                <a:sym typeface="Consolas Bold"/>
              </a:rPr>
              <a:t>RECONNAISSANCE VÉGÉTATION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40445" y="5696588"/>
            <a:ext cx="4712913" cy="68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MobileNetV2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794725" y="6520196"/>
            <a:ext cx="549069" cy="34319"/>
            <a:chOff x="0" y="0"/>
            <a:chExt cx="732092" cy="457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2155" cy="45720"/>
            </a:xfrm>
            <a:custGeom>
              <a:avLst/>
              <a:gdLst/>
              <a:ahLst/>
              <a:cxnLst/>
              <a:rect r="r" b="b" t="t" l="l"/>
              <a:pathLst>
                <a:path h="45720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6840445" y="6611798"/>
            <a:ext cx="4712913" cy="203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5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Transfer learning depuis ImageNet. Fine-tuning sur 4 classes : maquis · herbe · litière · sol nu. Mappage direct vers modèles Anderson 1982.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40445" y="8413356"/>
            <a:ext cx="4712913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8E8B8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Effort : 1 semaine sur Colab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794725" y="8853735"/>
            <a:ext cx="2470814" cy="343167"/>
            <a:chOff x="0" y="0"/>
            <a:chExt cx="3294418" cy="4575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794725" y="8853735"/>
            <a:ext cx="2470814" cy="343167"/>
            <a:chOff x="0" y="0"/>
            <a:chExt cx="3294418" cy="4575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94414" cy="457557"/>
            </a:xfrm>
            <a:custGeom>
              <a:avLst/>
              <a:gdLst/>
              <a:ahLst/>
              <a:cxnLst/>
              <a:rect r="r" b="b" t="t" l="l"/>
              <a:pathLst>
                <a:path h="45755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3294418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300">
                  <a:solidFill>
                    <a:srgbClr val="F7F3E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À DÉMARRER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074747" y="4525051"/>
            <a:ext cx="5637486" cy="4813887"/>
            <a:chOff x="0" y="0"/>
            <a:chExt cx="7516647" cy="64185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6350" y="6350"/>
              <a:ext cx="7503922" cy="6405753"/>
            </a:xfrm>
            <a:custGeom>
              <a:avLst/>
              <a:gdLst/>
              <a:ahLst/>
              <a:cxnLst/>
              <a:rect r="r" b="b" t="t" l="l"/>
              <a:pathLst>
                <a:path h="6405753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6405753"/>
                  </a:lnTo>
                  <a:lnTo>
                    <a:pt x="0" y="6405753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516622" cy="6418453"/>
            </a:xfrm>
            <a:custGeom>
              <a:avLst/>
              <a:gdLst/>
              <a:ahLst/>
              <a:cxnLst/>
              <a:rect r="r" b="b" t="t" l="l"/>
              <a:pathLst>
                <a:path h="6418453" w="7516622">
                  <a:moveTo>
                    <a:pt x="6350" y="0"/>
                  </a:moveTo>
                  <a:lnTo>
                    <a:pt x="7510272" y="0"/>
                  </a:lnTo>
                  <a:cubicBezTo>
                    <a:pt x="7513828" y="0"/>
                    <a:pt x="7516622" y="2794"/>
                    <a:pt x="7516622" y="6350"/>
                  </a:cubicBezTo>
                  <a:lnTo>
                    <a:pt x="7516622" y="6412103"/>
                  </a:lnTo>
                  <a:cubicBezTo>
                    <a:pt x="7516622" y="6415659"/>
                    <a:pt x="7513828" y="6418453"/>
                    <a:pt x="7510272" y="6418453"/>
                  </a:cubicBezTo>
                  <a:lnTo>
                    <a:pt x="6350" y="6418453"/>
                  </a:lnTo>
                  <a:cubicBezTo>
                    <a:pt x="2794" y="6418453"/>
                    <a:pt x="0" y="6415659"/>
                    <a:pt x="0" y="641210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6412103"/>
                  </a:lnTo>
                  <a:lnTo>
                    <a:pt x="6350" y="6412103"/>
                  </a:lnTo>
                  <a:lnTo>
                    <a:pt x="6350" y="6405753"/>
                  </a:lnTo>
                  <a:lnTo>
                    <a:pt x="7510272" y="6405753"/>
                  </a:lnTo>
                  <a:lnTo>
                    <a:pt x="7510272" y="6412103"/>
                  </a:lnTo>
                  <a:lnTo>
                    <a:pt x="7503922" y="6412103"/>
                  </a:lnTo>
                  <a:lnTo>
                    <a:pt x="7503922" y="6350"/>
                  </a:lnTo>
                  <a:lnTo>
                    <a:pt x="7510272" y="6350"/>
                  </a:lnTo>
                  <a:lnTo>
                    <a:pt x="751027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079519" y="4529823"/>
            <a:ext cx="5627951" cy="109814"/>
            <a:chOff x="0" y="0"/>
            <a:chExt cx="7503935" cy="14641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03922" cy="146431"/>
            </a:xfrm>
            <a:custGeom>
              <a:avLst/>
              <a:gdLst/>
              <a:ahLst/>
              <a:cxnLst/>
              <a:rect r="r" b="b" t="t" l="l"/>
              <a:pathLst>
                <a:path h="146431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8E8B83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2537043" y="4863465"/>
            <a:ext cx="869432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8E8B83"/>
                </a:solidFill>
                <a:latin typeface="Georgia Bold"/>
                <a:ea typeface="Georgia Bold"/>
                <a:cs typeface="Georgia Bold"/>
                <a:sym typeface="Georgia Bold"/>
              </a:rPr>
              <a:t>03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497906" y="4876067"/>
            <a:ext cx="4026579" cy="5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450">
                <a:solidFill>
                  <a:srgbClr val="141414"/>
                </a:solidFill>
                <a:latin typeface="Consolas Bold"/>
                <a:ea typeface="Consolas Bold"/>
                <a:cs typeface="Consolas Bold"/>
                <a:sym typeface="Consolas Bold"/>
              </a:rPr>
              <a:t>PRÉDICTION PROPAGATION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537043" y="5696588"/>
            <a:ext cx="4712913" cy="68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8E8B83"/>
                </a:solidFill>
                <a:latin typeface="Georgia Bold"/>
                <a:ea typeface="Georgia Bold"/>
                <a:cs typeface="Georgia Bold"/>
                <a:sym typeface="Georgia Bold"/>
              </a:rPr>
              <a:t>Emulator U-Net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2491323" y="6520196"/>
            <a:ext cx="549069" cy="34319"/>
            <a:chOff x="0" y="0"/>
            <a:chExt cx="732092" cy="4575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2155" cy="45720"/>
            </a:xfrm>
            <a:custGeom>
              <a:avLst/>
              <a:gdLst/>
              <a:ahLst/>
              <a:cxnLst/>
              <a:rect r="r" b="b" t="t" l="l"/>
              <a:pathLst>
                <a:path h="45720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8E8B83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2537043" y="6611798"/>
            <a:ext cx="4712913" cy="203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5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Approche pragmatique : entraîner un U-Net léger à reproduire les sorties de Rothermel × 50 fois plus vite. Données synthétiques générées en interne.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537043" y="8413356"/>
            <a:ext cx="4712913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8E8B8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Cible : juin (sprint 3)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491323" y="8853735"/>
            <a:ext cx="2470814" cy="343167"/>
            <a:chOff x="0" y="0"/>
            <a:chExt cx="3294418" cy="4575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8E8B83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491323" y="8853735"/>
            <a:ext cx="2470814" cy="343167"/>
            <a:chOff x="0" y="0"/>
            <a:chExt cx="3294418" cy="4575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94414" cy="457557"/>
            </a:xfrm>
            <a:custGeom>
              <a:avLst/>
              <a:gdLst/>
              <a:ahLst/>
              <a:cxnLst/>
              <a:rect r="r" b="b" t="t" l="l"/>
              <a:pathLst>
                <a:path h="45755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3294418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b="true" sz="1200" spc="300">
                  <a:solidFill>
                    <a:srgbClr val="F7F3E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PLANIFIÉ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732053" y="9658293"/>
            <a:ext cx="16792432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>
                <a:solidFill>
                  <a:srgbClr val="333333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« XGBoost pour le risque global. MobileNet pour le combustible. U-Net pour la propagation. Trois cibles, un dashboard. »</a:t>
            </a:r>
          </a:p>
        </p:txBody>
      </p:sp>
      <p:sp>
        <p:nvSpPr>
          <p:cNvPr name="AutoShape 65" id="65"/>
          <p:cNvSpPr/>
          <p:nvPr/>
        </p:nvSpPr>
        <p:spPr>
          <a:xfrm rot="1920">
            <a:off x="681571" y="9603943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053" y="383229"/>
            <a:ext cx="5399246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053" y="754971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86112" y="383229"/>
            <a:ext cx="4850178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450">
                <a:solidFill>
                  <a:srgbClr val="D44A1A"/>
                </a:solidFill>
                <a:latin typeface="Consolas"/>
                <a:ea typeface="Consolas"/>
                <a:cs typeface="Consolas"/>
                <a:sym typeface="Consolas"/>
              </a:rPr>
              <a:t>DIFFICULTÉS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754971"/>
            <a:ext cx="4850178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b="true" sz="1651" spc="45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P. 11 / 14</a:t>
            </a:r>
          </a:p>
        </p:txBody>
      </p:sp>
      <p:sp>
        <p:nvSpPr>
          <p:cNvPr name="AutoShape 8" id="8"/>
          <p:cNvSpPr/>
          <p:nvPr/>
        </p:nvSpPr>
        <p:spPr>
          <a:xfrm rot="1920">
            <a:off x="681571" y="1299277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32053" y="1637681"/>
            <a:ext cx="1830305" cy="117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7"/>
              </a:lnSpc>
            </a:pPr>
            <a:r>
              <a:rPr lang="en-US" sz="7806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259" y="1883645"/>
            <a:ext cx="539924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RETOUR HONNÊTE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9259" y="2324014"/>
            <a:ext cx="15007952" cy="138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Ce qui a coincé — et nos pivots.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2523" y="4114200"/>
            <a:ext cx="16891492" cy="1586198"/>
            <a:chOff x="0" y="0"/>
            <a:chExt cx="22521990" cy="21149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80" y="5080"/>
              <a:ext cx="22511893" cy="2104771"/>
            </a:xfrm>
            <a:custGeom>
              <a:avLst/>
              <a:gdLst/>
              <a:ahLst/>
              <a:cxnLst/>
              <a:rect r="r" b="b" t="t" l="l"/>
              <a:pathLst>
                <a:path h="2104771" w="22511893">
                  <a:moveTo>
                    <a:pt x="0" y="0"/>
                  </a:moveTo>
                  <a:lnTo>
                    <a:pt x="22511893" y="0"/>
                  </a:lnTo>
                  <a:lnTo>
                    <a:pt x="22511893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22053" cy="2114931"/>
            </a:xfrm>
            <a:custGeom>
              <a:avLst/>
              <a:gdLst/>
              <a:ahLst/>
              <a:cxnLst/>
              <a:rect r="r" b="b" t="t" l="l"/>
              <a:pathLst>
                <a:path h="2114931" w="22522053">
                  <a:moveTo>
                    <a:pt x="5080" y="0"/>
                  </a:moveTo>
                  <a:lnTo>
                    <a:pt x="22516973" y="0"/>
                  </a:lnTo>
                  <a:cubicBezTo>
                    <a:pt x="22519767" y="0"/>
                    <a:pt x="22522053" y="2286"/>
                    <a:pt x="22522053" y="5080"/>
                  </a:cubicBezTo>
                  <a:lnTo>
                    <a:pt x="22522053" y="2109851"/>
                  </a:lnTo>
                  <a:cubicBezTo>
                    <a:pt x="22522053" y="2112645"/>
                    <a:pt x="22519767" y="2114931"/>
                    <a:pt x="22516973" y="2114931"/>
                  </a:cubicBezTo>
                  <a:lnTo>
                    <a:pt x="5080" y="2114931"/>
                  </a:lnTo>
                  <a:cubicBezTo>
                    <a:pt x="2286" y="2114931"/>
                    <a:pt x="0" y="2112645"/>
                    <a:pt x="0" y="2109851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2109851"/>
                  </a:lnTo>
                  <a:lnTo>
                    <a:pt x="5080" y="2109851"/>
                  </a:lnTo>
                  <a:lnTo>
                    <a:pt x="5080" y="2104771"/>
                  </a:lnTo>
                  <a:lnTo>
                    <a:pt x="22516973" y="2104771"/>
                  </a:lnTo>
                  <a:lnTo>
                    <a:pt x="22516973" y="2109851"/>
                  </a:lnTo>
                  <a:lnTo>
                    <a:pt x="22511893" y="2109851"/>
                  </a:lnTo>
                  <a:lnTo>
                    <a:pt x="22511893" y="5080"/>
                  </a:lnTo>
                  <a:lnTo>
                    <a:pt x="22516973" y="5080"/>
                  </a:lnTo>
                  <a:lnTo>
                    <a:pt x="22516973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06592" y="4461186"/>
            <a:ext cx="1555766" cy="89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04730" y="4326998"/>
            <a:ext cx="6085589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45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APPROVISIONNEMENT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04730" y="4690053"/>
            <a:ext cx="6085589" cy="36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Délais de livraison  de certains pilotes moteurs.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647833" y="4598451"/>
            <a:ext cx="1372676" cy="686333"/>
            <a:chOff x="0" y="0"/>
            <a:chExt cx="1830235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30230" cy="915115"/>
            </a:xfrm>
            <a:custGeom>
              <a:avLst/>
              <a:gdLst/>
              <a:ahLst/>
              <a:cxnLst/>
              <a:rect r="r" b="b" t="t" l="l"/>
              <a:pathLst>
                <a:path h="915115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830235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64"/>
                </a:lnSpc>
              </a:pPr>
              <a:r>
                <a:rPr lang="en-US" sz="4803" b="true">
                  <a:solidFill>
                    <a:srgbClr val="C99A3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→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556288" y="5256209"/>
            <a:ext cx="1555766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b="true" sz="1200" spc="450">
                <a:solidFill>
                  <a:srgbClr val="C99A3F"/>
                </a:solidFill>
                <a:latin typeface="Consolas Bold"/>
                <a:ea typeface="Consolas Bold"/>
                <a:cs typeface="Consolas Bold"/>
                <a:sym typeface="Consolas Bold"/>
              </a:rPr>
              <a:t>PIVOT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78033" y="4326998"/>
            <a:ext cx="677192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450">
                <a:solidFill>
                  <a:srgbClr val="3D5C37"/>
                </a:solidFill>
                <a:latin typeface="Consolas Bold"/>
                <a:ea typeface="Consolas Bold"/>
                <a:cs typeface="Consolas Bold"/>
                <a:sym typeface="Consolas Bold"/>
              </a:rPr>
              <a:t>SOLUTION ADOPTÉE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78033" y="4690053"/>
            <a:ext cx="6771923" cy="86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Priorisation du livrable logiciel — la plateforme web consomme des données simulées en attendant le rover.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2523" y="5939857"/>
            <a:ext cx="16891492" cy="1586198"/>
            <a:chOff x="0" y="0"/>
            <a:chExt cx="22521990" cy="21149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80" y="5080"/>
              <a:ext cx="22511893" cy="2104771"/>
            </a:xfrm>
            <a:custGeom>
              <a:avLst/>
              <a:gdLst/>
              <a:ahLst/>
              <a:cxnLst/>
              <a:rect r="r" b="b" t="t" l="l"/>
              <a:pathLst>
                <a:path h="2104771" w="22511893">
                  <a:moveTo>
                    <a:pt x="0" y="0"/>
                  </a:moveTo>
                  <a:lnTo>
                    <a:pt x="22511893" y="0"/>
                  </a:lnTo>
                  <a:lnTo>
                    <a:pt x="22511893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522053" cy="2114931"/>
            </a:xfrm>
            <a:custGeom>
              <a:avLst/>
              <a:gdLst/>
              <a:ahLst/>
              <a:cxnLst/>
              <a:rect r="r" b="b" t="t" l="l"/>
              <a:pathLst>
                <a:path h="2114931" w="22522053">
                  <a:moveTo>
                    <a:pt x="5080" y="0"/>
                  </a:moveTo>
                  <a:lnTo>
                    <a:pt x="22516973" y="0"/>
                  </a:lnTo>
                  <a:cubicBezTo>
                    <a:pt x="22519767" y="0"/>
                    <a:pt x="22522053" y="2286"/>
                    <a:pt x="22522053" y="5080"/>
                  </a:cubicBezTo>
                  <a:lnTo>
                    <a:pt x="22522053" y="2109851"/>
                  </a:lnTo>
                  <a:cubicBezTo>
                    <a:pt x="22522053" y="2112645"/>
                    <a:pt x="22519767" y="2114931"/>
                    <a:pt x="22516973" y="2114931"/>
                  </a:cubicBezTo>
                  <a:lnTo>
                    <a:pt x="5080" y="2114931"/>
                  </a:lnTo>
                  <a:cubicBezTo>
                    <a:pt x="2286" y="2114931"/>
                    <a:pt x="0" y="2112645"/>
                    <a:pt x="0" y="2109851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2109851"/>
                  </a:lnTo>
                  <a:lnTo>
                    <a:pt x="5080" y="2109851"/>
                  </a:lnTo>
                  <a:lnTo>
                    <a:pt x="5080" y="2104771"/>
                  </a:lnTo>
                  <a:lnTo>
                    <a:pt x="22516973" y="2104771"/>
                  </a:lnTo>
                  <a:lnTo>
                    <a:pt x="22516973" y="2109851"/>
                  </a:lnTo>
                  <a:lnTo>
                    <a:pt x="22511893" y="2109851"/>
                  </a:lnTo>
                  <a:lnTo>
                    <a:pt x="22511893" y="5080"/>
                  </a:lnTo>
                  <a:lnTo>
                    <a:pt x="22516973" y="5080"/>
                  </a:lnTo>
                  <a:lnTo>
                    <a:pt x="22516973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06592" y="6286843"/>
            <a:ext cx="1555766" cy="89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04730" y="6152655"/>
            <a:ext cx="6085589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45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MODÈLE DE FISHER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04730" y="6515710"/>
            <a:ext cx="6085589" cy="86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Équation de réaction-diffusion élégante mais infaisable en temps réel sur Pi 4.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647833" y="6424108"/>
            <a:ext cx="1372676" cy="686333"/>
            <a:chOff x="0" y="0"/>
            <a:chExt cx="1830235" cy="9151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30230" cy="915115"/>
            </a:xfrm>
            <a:custGeom>
              <a:avLst/>
              <a:gdLst/>
              <a:ahLst/>
              <a:cxnLst/>
              <a:rect r="r" b="b" t="t" l="l"/>
              <a:pathLst>
                <a:path h="915115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830235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64"/>
                </a:lnSpc>
              </a:pPr>
              <a:r>
                <a:rPr lang="en-US" sz="4803" b="true">
                  <a:solidFill>
                    <a:srgbClr val="C99A3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→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556288" y="7081866"/>
            <a:ext cx="1555766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b="true" sz="1200" spc="450">
                <a:solidFill>
                  <a:srgbClr val="C99A3F"/>
                </a:solidFill>
                <a:latin typeface="Consolas Bold"/>
                <a:ea typeface="Consolas Bold"/>
                <a:cs typeface="Consolas Bold"/>
                <a:sym typeface="Consolas Bold"/>
              </a:rPr>
              <a:t>PIVOT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78033" y="6152655"/>
            <a:ext cx="677192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450">
                <a:solidFill>
                  <a:srgbClr val="3D5C37"/>
                </a:solidFill>
                <a:latin typeface="Consolas Bold"/>
                <a:ea typeface="Consolas Bold"/>
                <a:cs typeface="Consolas Bold"/>
                <a:sym typeface="Consolas Bold"/>
              </a:rPr>
              <a:t>SOLUTION ADOPTÉE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78033" y="6515710"/>
            <a:ext cx="6771923" cy="86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Bascule documentée vers automates cellulaires + Rothermel — approche validée par la littérature.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82523" y="7765513"/>
            <a:ext cx="16891492" cy="1586198"/>
            <a:chOff x="0" y="0"/>
            <a:chExt cx="22521990" cy="21149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5080" y="5080"/>
              <a:ext cx="22511893" cy="2104771"/>
            </a:xfrm>
            <a:custGeom>
              <a:avLst/>
              <a:gdLst/>
              <a:ahLst/>
              <a:cxnLst/>
              <a:rect r="r" b="b" t="t" l="l"/>
              <a:pathLst>
                <a:path h="2104771" w="22511893">
                  <a:moveTo>
                    <a:pt x="0" y="0"/>
                  </a:moveTo>
                  <a:lnTo>
                    <a:pt x="22511893" y="0"/>
                  </a:lnTo>
                  <a:lnTo>
                    <a:pt x="22511893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522053" cy="2114931"/>
            </a:xfrm>
            <a:custGeom>
              <a:avLst/>
              <a:gdLst/>
              <a:ahLst/>
              <a:cxnLst/>
              <a:rect r="r" b="b" t="t" l="l"/>
              <a:pathLst>
                <a:path h="2114931" w="22522053">
                  <a:moveTo>
                    <a:pt x="5080" y="0"/>
                  </a:moveTo>
                  <a:lnTo>
                    <a:pt x="22516973" y="0"/>
                  </a:lnTo>
                  <a:cubicBezTo>
                    <a:pt x="22519767" y="0"/>
                    <a:pt x="22522053" y="2286"/>
                    <a:pt x="22522053" y="5080"/>
                  </a:cubicBezTo>
                  <a:lnTo>
                    <a:pt x="22522053" y="2109851"/>
                  </a:lnTo>
                  <a:cubicBezTo>
                    <a:pt x="22522053" y="2112645"/>
                    <a:pt x="22519767" y="2114931"/>
                    <a:pt x="22516973" y="2114931"/>
                  </a:cubicBezTo>
                  <a:lnTo>
                    <a:pt x="5080" y="2114931"/>
                  </a:lnTo>
                  <a:cubicBezTo>
                    <a:pt x="2286" y="2114931"/>
                    <a:pt x="0" y="2112645"/>
                    <a:pt x="0" y="2109851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2109851"/>
                  </a:lnTo>
                  <a:lnTo>
                    <a:pt x="5080" y="2109851"/>
                  </a:lnTo>
                  <a:lnTo>
                    <a:pt x="5080" y="2104771"/>
                  </a:lnTo>
                  <a:lnTo>
                    <a:pt x="22516973" y="2104771"/>
                  </a:lnTo>
                  <a:lnTo>
                    <a:pt x="22516973" y="2109851"/>
                  </a:lnTo>
                  <a:lnTo>
                    <a:pt x="22511893" y="2109851"/>
                  </a:lnTo>
                  <a:lnTo>
                    <a:pt x="22511893" y="5080"/>
                  </a:lnTo>
                  <a:lnTo>
                    <a:pt x="22516973" y="5080"/>
                  </a:lnTo>
                  <a:lnTo>
                    <a:pt x="22516973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06592" y="8112490"/>
            <a:ext cx="1555766" cy="89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04730" y="7978311"/>
            <a:ext cx="6085589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45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RECONNAISSANCE D'ESPÈCES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04730" y="8341366"/>
            <a:ext cx="6085589" cy="86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Identification fine par espèce hors budget capteurs multispectraux.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647833" y="8249764"/>
            <a:ext cx="1372676" cy="686333"/>
            <a:chOff x="0" y="0"/>
            <a:chExt cx="1830235" cy="9151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30230" cy="915115"/>
            </a:xfrm>
            <a:custGeom>
              <a:avLst/>
              <a:gdLst/>
              <a:ahLst/>
              <a:cxnLst/>
              <a:rect r="r" b="b" t="t" l="l"/>
              <a:pathLst>
                <a:path h="915115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830235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64"/>
                </a:lnSpc>
              </a:pPr>
              <a:r>
                <a:rPr lang="en-US" sz="4803" b="true">
                  <a:solidFill>
                    <a:srgbClr val="C99A3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→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8556288" y="8907523"/>
            <a:ext cx="1555766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b="true" sz="1200" spc="450">
                <a:solidFill>
                  <a:srgbClr val="C99A3F"/>
                </a:solidFill>
                <a:latin typeface="Consolas Bold"/>
                <a:ea typeface="Consolas Bold"/>
                <a:cs typeface="Consolas Bold"/>
                <a:sym typeface="Consolas Bold"/>
              </a:rPr>
              <a:t>PIVOT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78033" y="7978311"/>
            <a:ext cx="677192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450">
                <a:solidFill>
                  <a:srgbClr val="3D5C37"/>
                </a:solidFill>
                <a:latin typeface="Consolas Bold"/>
                <a:ea typeface="Consolas Bold"/>
                <a:cs typeface="Consolas Bold"/>
                <a:sym typeface="Consolas Bold"/>
              </a:rPr>
              <a:t>SOLUTION ADOPTÉE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78033" y="8341366"/>
            <a:ext cx="6771923" cy="86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Classification grossière 4 classes via MobileNet + sondes DFMC physiques — proxy biomasse via VARI.</a:t>
            </a:r>
          </a:p>
        </p:txBody>
      </p:sp>
      <p:sp>
        <p:nvSpPr>
          <p:cNvPr name="AutoShape 48" id="48"/>
          <p:cNvSpPr/>
          <p:nvPr/>
        </p:nvSpPr>
        <p:spPr>
          <a:xfrm rot="1920">
            <a:off x="681571" y="9672580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9" id="49"/>
          <p:cNvSpPr txBox="true"/>
          <p:nvPr/>
        </p:nvSpPr>
        <p:spPr>
          <a:xfrm rot="0">
            <a:off x="732053" y="9758582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ÉCOLE CENTRALE CASABLANCA — LEARNING BY DOING — GROUPE 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340759" y="9758582"/>
            <a:ext cx="7224903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b="true" sz="1200" spc="300">
                <a:solidFill>
                  <a:srgbClr val="141414"/>
                </a:solidFill>
                <a:latin typeface="Consolas Bold"/>
                <a:ea typeface="Consolas Bold"/>
                <a:cs typeface="Consolas Bold"/>
                <a:sym typeface="Consolas Bold"/>
              </a:rPr>
              <a:t>P. 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053" y="383229"/>
            <a:ext cx="5399246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053" y="754971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86112" y="383229"/>
            <a:ext cx="4850178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450">
                <a:solidFill>
                  <a:srgbClr val="D44A1A"/>
                </a:solidFill>
                <a:latin typeface="Consolas"/>
                <a:ea typeface="Consolas"/>
                <a:cs typeface="Consolas"/>
                <a:sym typeface="Consolas"/>
              </a:rPr>
              <a:t>BILAN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754971"/>
            <a:ext cx="4850178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b="true" sz="1651" spc="450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P. 13 / 14</a:t>
            </a:r>
          </a:p>
        </p:txBody>
      </p:sp>
      <p:sp>
        <p:nvSpPr>
          <p:cNvPr name="AutoShape 8" id="8"/>
          <p:cNvSpPr/>
          <p:nvPr/>
        </p:nvSpPr>
        <p:spPr>
          <a:xfrm rot="1920">
            <a:off x="681571" y="1299277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32053" y="1637681"/>
            <a:ext cx="118074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7"/>
              </a:lnSpc>
            </a:pPr>
            <a:r>
              <a:rPr lang="en-US" sz="7806" b="true">
                <a:solidFill>
                  <a:srgbClr val="D44A1A"/>
                </a:solidFill>
                <a:latin typeface="Georgia Bold"/>
                <a:ea typeface="Georgia Bold"/>
                <a:cs typeface="Georgia Bold"/>
                <a:sym typeface="Georgia Bold"/>
              </a:rPr>
              <a:t>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259" y="1883645"/>
            <a:ext cx="5399246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ÉTAT DES LIEUX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9259" y="2324014"/>
            <a:ext cx="15007952" cy="138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Acquis vs reste à faire.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1571" y="4525051"/>
            <a:ext cx="8314201" cy="4951152"/>
            <a:chOff x="0" y="0"/>
            <a:chExt cx="11085601" cy="66015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11072876" cy="6588887"/>
            </a:xfrm>
            <a:custGeom>
              <a:avLst/>
              <a:gdLst/>
              <a:ahLst/>
              <a:cxnLst/>
              <a:rect r="r" b="b" t="t" l="l"/>
              <a:pathLst>
                <a:path h="6588887" w="11072876">
                  <a:moveTo>
                    <a:pt x="0" y="0"/>
                  </a:moveTo>
                  <a:lnTo>
                    <a:pt x="11072876" y="0"/>
                  </a:lnTo>
                  <a:lnTo>
                    <a:pt x="11072876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85576" cy="6601587"/>
            </a:xfrm>
            <a:custGeom>
              <a:avLst/>
              <a:gdLst/>
              <a:ahLst/>
              <a:cxnLst/>
              <a:rect r="r" b="b" t="t" l="l"/>
              <a:pathLst>
                <a:path h="6601587" w="11085576">
                  <a:moveTo>
                    <a:pt x="6350" y="0"/>
                  </a:moveTo>
                  <a:lnTo>
                    <a:pt x="11079226" y="0"/>
                  </a:lnTo>
                  <a:cubicBezTo>
                    <a:pt x="11082782" y="0"/>
                    <a:pt x="11085576" y="2794"/>
                    <a:pt x="11085576" y="6350"/>
                  </a:cubicBezTo>
                  <a:lnTo>
                    <a:pt x="11085576" y="6595237"/>
                  </a:lnTo>
                  <a:cubicBezTo>
                    <a:pt x="11085576" y="6598793"/>
                    <a:pt x="11082782" y="6601587"/>
                    <a:pt x="11079226" y="6601587"/>
                  </a:cubicBezTo>
                  <a:lnTo>
                    <a:pt x="6350" y="6601587"/>
                  </a:lnTo>
                  <a:cubicBezTo>
                    <a:pt x="2794" y="6601587"/>
                    <a:pt x="0" y="6598793"/>
                    <a:pt x="0" y="659523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6595237"/>
                  </a:lnTo>
                  <a:lnTo>
                    <a:pt x="6350" y="6595237"/>
                  </a:lnTo>
                  <a:lnTo>
                    <a:pt x="6350" y="6588887"/>
                  </a:lnTo>
                  <a:lnTo>
                    <a:pt x="11079226" y="6588887"/>
                  </a:lnTo>
                  <a:lnTo>
                    <a:pt x="11079226" y="6595237"/>
                  </a:lnTo>
                  <a:lnTo>
                    <a:pt x="11072876" y="6595237"/>
                  </a:lnTo>
                  <a:lnTo>
                    <a:pt x="11072876" y="6350"/>
                  </a:lnTo>
                  <a:lnTo>
                    <a:pt x="11079226" y="6350"/>
                  </a:lnTo>
                  <a:lnTo>
                    <a:pt x="1107922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6333" y="4529823"/>
            <a:ext cx="109814" cy="4941618"/>
            <a:chOff x="0" y="0"/>
            <a:chExt cx="146418" cy="65888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431" cy="6588887"/>
            </a:xfrm>
            <a:custGeom>
              <a:avLst/>
              <a:gdLst/>
              <a:ahLst/>
              <a:cxnLst/>
              <a:rect r="r" b="b" t="t" l="l"/>
              <a:pathLst>
                <a:path h="658888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3D5C3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43857" y="4844415"/>
            <a:ext cx="7526893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3D5C37"/>
                </a:solidFill>
                <a:latin typeface="Consolas Bold"/>
                <a:ea typeface="Consolas Bold"/>
                <a:cs typeface="Consolas Bold"/>
                <a:sym typeface="Consolas Bold"/>
              </a:rPr>
              <a:t>ACQUIS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857" y="5353421"/>
            <a:ext cx="7526893" cy="82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Ce qui marche déjà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66774" y="6561372"/>
            <a:ext cx="137265" cy="137265"/>
            <a:chOff x="0" y="0"/>
            <a:chExt cx="183020" cy="1830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3D5C3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87024" y="6375359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57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Plateforme web fonctionnelle avec données réelles Open-Meteo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6774" y="6973176"/>
            <a:ext cx="137265" cy="137265"/>
            <a:chOff x="0" y="0"/>
            <a:chExt cx="183020" cy="1830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3D5C37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87024" y="6787163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57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Moteur Rothermel calibré sur valeurs Anderson 1982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66774" y="7384980"/>
            <a:ext cx="137265" cy="137265"/>
            <a:chOff x="0" y="0"/>
            <a:chExt cx="183020" cy="183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3D5C37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87024" y="7198966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57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Capteurs testés. Structure de données mappée prête pour l'IA.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66774" y="7796774"/>
            <a:ext cx="137265" cy="137265"/>
            <a:chOff x="0" y="0"/>
            <a:chExt cx="183020" cy="1830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3D5C37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87024" y="7610761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57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Conception 3D finalisée et pièces imprimées.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66774" y="8208578"/>
            <a:ext cx="137265" cy="137265"/>
            <a:chOff x="0" y="0"/>
            <a:chExt cx="183020" cy="1830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3D5C37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87024" y="8022565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57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Trajectoire rover simulée · 60 points de mesure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66774" y="8620382"/>
            <a:ext cx="137265" cy="137265"/>
            <a:chOff x="0" y="0"/>
            <a:chExt cx="183020" cy="1830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3D5C37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487024" y="8434368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57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Design électrique complet mappé sur Fritzing.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66774" y="9032186"/>
            <a:ext cx="137265" cy="137265"/>
            <a:chOff x="0" y="0"/>
            <a:chExt cx="183020" cy="1830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3D5C37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487024" y="8846172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57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Préparation d'une conception perfboard.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60776" y="4525051"/>
            <a:ext cx="8314201" cy="4951152"/>
            <a:chOff x="0" y="0"/>
            <a:chExt cx="11085601" cy="66015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6350" y="6350"/>
              <a:ext cx="11072876" cy="6588887"/>
            </a:xfrm>
            <a:custGeom>
              <a:avLst/>
              <a:gdLst/>
              <a:ahLst/>
              <a:cxnLst/>
              <a:rect r="r" b="b" t="t" l="l"/>
              <a:pathLst>
                <a:path h="6588887" w="11072876">
                  <a:moveTo>
                    <a:pt x="0" y="0"/>
                  </a:moveTo>
                  <a:lnTo>
                    <a:pt x="11072876" y="0"/>
                  </a:lnTo>
                  <a:lnTo>
                    <a:pt x="11072876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FAF6E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85576" cy="6601587"/>
            </a:xfrm>
            <a:custGeom>
              <a:avLst/>
              <a:gdLst/>
              <a:ahLst/>
              <a:cxnLst/>
              <a:rect r="r" b="b" t="t" l="l"/>
              <a:pathLst>
                <a:path h="6601587" w="11085576">
                  <a:moveTo>
                    <a:pt x="6350" y="0"/>
                  </a:moveTo>
                  <a:lnTo>
                    <a:pt x="11079226" y="0"/>
                  </a:lnTo>
                  <a:cubicBezTo>
                    <a:pt x="11082782" y="0"/>
                    <a:pt x="11085576" y="2794"/>
                    <a:pt x="11085576" y="6350"/>
                  </a:cubicBezTo>
                  <a:lnTo>
                    <a:pt x="11085576" y="6595237"/>
                  </a:lnTo>
                  <a:cubicBezTo>
                    <a:pt x="11085576" y="6598793"/>
                    <a:pt x="11082782" y="6601587"/>
                    <a:pt x="11079226" y="6601587"/>
                  </a:cubicBezTo>
                  <a:lnTo>
                    <a:pt x="6350" y="6601587"/>
                  </a:lnTo>
                  <a:cubicBezTo>
                    <a:pt x="2794" y="6601587"/>
                    <a:pt x="0" y="6598793"/>
                    <a:pt x="0" y="659523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6595237"/>
                  </a:lnTo>
                  <a:lnTo>
                    <a:pt x="6350" y="6595237"/>
                  </a:lnTo>
                  <a:lnTo>
                    <a:pt x="6350" y="6588887"/>
                  </a:lnTo>
                  <a:lnTo>
                    <a:pt x="11079226" y="6588887"/>
                  </a:lnTo>
                  <a:lnTo>
                    <a:pt x="11079226" y="6595237"/>
                  </a:lnTo>
                  <a:lnTo>
                    <a:pt x="11072876" y="6595237"/>
                  </a:lnTo>
                  <a:lnTo>
                    <a:pt x="11072876" y="6350"/>
                  </a:lnTo>
                  <a:lnTo>
                    <a:pt x="11079226" y="6350"/>
                  </a:lnTo>
                  <a:lnTo>
                    <a:pt x="1107922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FC8B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265539" y="4529823"/>
            <a:ext cx="109814" cy="4941618"/>
            <a:chOff x="0" y="0"/>
            <a:chExt cx="146418" cy="658882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431" cy="6588887"/>
            </a:xfrm>
            <a:custGeom>
              <a:avLst/>
              <a:gdLst/>
              <a:ahLst/>
              <a:cxnLst/>
              <a:rect r="r" b="b" t="t" l="l"/>
              <a:pathLst>
                <a:path h="658888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723063" y="4844415"/>
            <a:ext cx="7526893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D44A1A"/>
                </a:solidFill>
                <a:latin typeface="Consolas Bold"/>
                <a:ea typeface="Consolas Bold"/>
                <a:cs typeface="Consolas Bold"/>
                <a:sym typeface="Consolas Bold"/>
              </a:rPr>
              <a:t>À VENIR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23063" y="5353421"/>
            <a:ext cx="7526893" cy="82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Les chantiers ouverts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745970" y="6561372"/>
            <a:ext cx="137265" cy="137265"/>
            <a:chOff x="0" y="0"/>
            <a:chExt cx="183020" cy="1830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0066230" y="6375359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57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Réception des moteurs G25-370 et assemblage du robot.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745970" y="6973176"/>
            <a:ext cx="137265" cy="137265"/>
            <a:chOff x="0" y="0"/>
            <a:chExt cx="183020" cy="1830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0066230" y="6787163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57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Design, entraînement et vérification des modèles IA.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-9144000" y="7384980"/>
            <a:ext cx="137265" cy="137265"/>
            <a:chOff x="0" y="0"/>
            <a:chExt cx="183020" cy="1830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0066230" y="7198966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56" id="56"/>
          <p:cNvGrpSpPr/>
          <p:nvPr/>
        </p:nvGrpSpPr>
        <p:grpSpPr>
          <a:xfrm rot="0">
            <a:off x="-9144000" y="7796774"/>
            <a:ext cx="137265" cy="137265"/>
            <a:chOff x="0" y="0"/>
            <a:chExt cx="183020" cy="1830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0066230" y="7610761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59" id="59"/>
          <p:cNvGrpSpPr/>
          <p:nvPr/>
        </p:nvGrpSpPr>
        <p:grpSpPr>
          <a:xfrm rot="0">
            <a:off x="-9144000" y="8208578"/>
            <a:ext cx="137265" cy="137265"/>
            <a:chOff x="0" y="0"/>
            <a:chExt cx="183020" cy="1830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0066230" y="8022565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62" id="62"/>
          <p:cNvGrpSpPr/>
          <p:nvPr/>
        </p:nvGrpSpPr>
        <p:grpSpPr>
          <a:xfrm rot="0">
            <a:off x="-9144000" y="8620382"/>
            <a:ext cx="137265" cy="137265"/>
            <a:chOff x="0" y="0"/>
            <a:chExt cx="183020" cy="1830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0066230" y="8434368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65" id="65"/>
          <p:cNvGrpSpPr/>
          <p:nvPr/>
        </p:nvGrpSpPr>
        <p:grpSpPr>
          <a:xfrm rot="0">
            <a:off x="-9144000" y="9032186"/>
            <a:ext cx="137265" cy="137265"/>
            <a:chOff x="0" y="0"/>
            <a:chExt cx="183020" cy="1830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0066230" y="8846172"/>
            <a:ext cx="7252354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68" id="68"/>
          <p:cNvSpPr/>
          <p:nvPr/>
        </p:nvSpPr>
        <p:spPr>
          <a:xfrm rot="1920">
            <a:off x="681571" y="9672580"/>
            <a:ext cx="16934583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9" id="69"/>
          <p:cNvSpPr txBox="true"/>
          <p:nvPr/>
        </p:nvSpPr>
        <p:spPr>
          <a:xfrm rot="0">
            <a:off x="732053" y="9758582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30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ÉCOLE CENTRALE CASABLANCA — LEARNING BY DOING — GROUPE 7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340759" y="9758582"/>
            <a:ext cx="7224903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b="true" sz="1200" spc="300">
                <a:solidFill>
                  <a:srgbClr val="141414"/>
                </a:solidFill>
                <a:latin typeface="Consolas Bold"/>
                <a:ea typeface="Consolas Bold"/>
                <a:cs typeface="Consolas Bold"/>
                <a:sym typeface="Consolas Bold"/>
              </a:rPr>
              <a:t>P. 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686333"/>
            <a:chOff x="0" y="0"/>
            <a:chExt cx="24402453" cy="915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915162"/>
            </a:xfrm>
            <a:custGeom>
              <a:avLst/>
              <a:gdLst/>
              <a:ahLst/>
              <a:cxnLst/>
              <a:rect r="r" b="b" t="t" l="l"/>
              <a:pathLst>
                <a:path h="9151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32053" y="149876"/>
            <a:ext cx="8144599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600">
                <a:solidFill>
                  <a:srgbClr val="F7F3EC"/>
                </a:solidFill>
                <a:latin typeface="Consolas"/>
                <a:ea typeface="Consolas"/>
                <a:cs typeface="Consolas"/>
                <a:sym typeface="Consolas"/>
              </a:rPr>
              <a:t>VOL. 01 / N° 02 — AVRIL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112" y="149876"/>
            <a:ext cx="4850178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spc="600">
                <a:solidFill>
                  <a:srgbClr val="D44A1A"/>
                </a:solidFill>
                <a:latin typeface="Consolas"/>
                <a:ea typeface="Consolas"/>
                <a:cs typeface="Consolas"/>
                <a:sym typeface="Consolas"/>
              </a:rPr>
              <a:t>FIN — MERCI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9328" y="2324014"/>
            <a:ext cx="16380628" cy="206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5"/>
              </a:lnSpc>
            </a:pPr>
            <a:r>
              <a:rPr lang="en-US" sz="27021" b="true">
                <a:solidFill>
                  <a:srgbClr val="141414"/>
                </a:solidFill>
                <a:latin typeface="Georgia Bold"/>
                <a:ea typeface="Georgia Bold"/>
                <a:cs typeface="Georgia Bold"/>
                <a:sym typeface="Georgia Bold"/>
              </a:rPr>
              <a:t>Merci.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3608" y="5490686"/>
            <a:ext cx="2059010" cy="82363"/>
            <a:chOff x="0" y="0"/>
            <a:chExt cx="2745346" cy="109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5359" cy="109855"/>
            </a:xfrm>
            <a:custGeom>
              <a:avLst/>
              <a:gdLst/>
              <a:ahLst/>
              <a:cxnLst/>
              <a:rect r="r" b="b" t="t" l="l"/>
              <a:pathLst>
                <a:path h="10985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44A1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69328" y="5892965"/>
            <a:ext cx="16380628" cy="110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i="true">
                <a:solidFill>
                  <a:srgbClr val="333333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Questions, commentaires, discussions 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9328" y="6442034"/>
            <a:ext cx="16380628" cy="110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i="true">
                <a:solidFill>
                  <a:srgbClr val="D44A1A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le moment est venu.</a:t>
            </a:r>
          </a:p>
        </p:txBody>
      </p:sp>
      <p:sp>
        <p:nvSpPr>
          <p:cNvPr name="AutoShape 13" id="13"/>
          <p:cNvSpPr/>
          <p:nvPr/>
        </p:nvSpPr>
        <p:spPr>
          <a:xfrm rot="4440">
            <a:off x="818836" y="7819473"/>
            <a:ext cx="7421966" cy="0"/>
          </a:xfrm>
          <a:prstGeom prst="line">
            <a:avLst/>
          </a:prstGeom>
          <a:ln cap="rnd" w="9525">
            <a:solidFill>
              <a:srgbClr val="CFC8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69328" y="8001562"/>
            <a:ext cx="5399246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b="true" sz="1200" spc="600">
                <a:solidFill>
                  <a:srgbClr val="8E8B83"/>
                </a:solidFill>
                <a:latin typeface="Consolas Bold"/>
                <a:ea typeface="Consolas Bold"/>
                <a:cs typeface="Consolas Bold"/>
                <a:sym typeface="Consolas Bold"/>
              </a:rPr>
              <a:t>ÉQUIPE GROUPE 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9328" y="8344729"/>
            <a:ext cx="8144599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Anwar Mounir · Meryem Azgrar · Amina Dione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9328" y="8646719"/>
            <a:ext cx="8144599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Chady Latifi · Ivan-Emmanuel Rabe Maleu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68092" y="8001562"/>
            <a:ext cx="5399246" cy="371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b="true" sz="1200" spc="600">
                <a:solidFill>
                  <a:srgbClr val="8E8B83"/>
                </a:solidFill>
                <a:latin typeface="Consolas Bold"/>
                <a:ea typeface="Consolas Bold"/>
                <a:cs typeface="Consolas Bold"/>
                <a:sym typeface="Consolas Bold"/>
              </a:rPr>
              <a:t>ENCADRANT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68092" y="8344729"/>
            <a:ext cx="8144599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414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M. Anouar BELHBOUB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68092" y="8646719"/>
            <a:ext cx="8144599" cy="44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École Centrale Casablanca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0" y="9402804"/>
            <a:ext cx="18301840" cy="892235"/>
            <a:chOff x="0" y="0"/>
            <a:chExt cx="24402453" cy="11896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02414" cy="1189609"/>
            </a:xfrm>
            <a:custGeom>
              <a:avLst/>
              <a:gdLst/>
              <a:ahLst/>
              <a:cxnLst/>
              <a:rect r="r" b="b" t="t" l="l"/>
              <a:pathLst>
                <a:path h="118960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32053" y="9677343"/>
            <a:ext cx="539924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600">
                <a:solidFill>
                  <a:srgbClr val="F7F3EC"/>
                </a:solidFill>
                <a:latin typeface="Georgia Bold"/>
                <a:ea typeface="Georgia Bold"/>
                <a:cs typeface="Georgia Bold"/>
                <a:sym typeface="Georgia Bold"/>
              </a:rPr>
              <a:t>BURNTRACK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09083" y="9680419"/>
            <a:ext cx="5399246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spc="45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P. 14 / 14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99769" y="9680419"/>
            <a:ext cx="516589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spc="450">
                <a:solidFill>
                  <a:srgbClr val="8E8B83"/>
                </a:solidFill>
                <a:latin typeface="Consolas"/>
                <a:ea typeface="Consolas"/>
                <a:cs typeface="Consolas"/>
                <a:sym typeface="Consolas"/>
              </a:rPr>
              <a:t>ANNÉE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DAHIE0yfPZk</dc:identifier>
  <dcterms:modified xsi:type="dcterms:W3CDTF">2011-08-01T06:04:30Z</dcterms:modified>
  <cp:revision>1</cp:revision>
  <dc:title>burntrack_soutenance_v2_magazine.pptx</dc:title>
</cp:coreProperties>
</file>